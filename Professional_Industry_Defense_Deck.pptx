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77dad9c444e91" /><Relationship Type="http://schemas.openxmlformats.org/officeDocument/2006/relationships/extended-properties" Target="/docProps/app.xml" Id="R6dff602f34f44a89" /><Relationship Type="http://schemas.openxmlformats.org/officeDocument/2006/relationships/officeDocument" Target="/ppt/presentation.xml" Id="R0c564901e69a4a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20dd5c6866455d"/>
  </p:sldMasterIdLst>
  <p:notesMasterIdLst>
    <p:notesMasterId xmlns:r="http://schemas.openxmlformats.org/officeDocument/2006/relationships" r:id="Rd465ef786fcd4e84"/>
  </p:notesMasterIdLst>
  <p:sldIdLst>
    <p:sldId xmlns:r="http://schemas.openxmlformats.org/officeDocument/2006/relationships" id="256" r:id="Rea9de7aaea0c44fd"/>
    <p:sldId xmlns:r="http://schemas.openxmlformats.org/officeDocument/2006/relationships" id="257" r:id="Rbf3550db516e4ac0"/>
    <p:sldId xmlns:r="http://schemas.openxmlformats.org/officeDocument/2006/relationships" id="258" r:id="R044e3bfa27e94ffe"/>
    <p:sldId xmlns:r="http://schemas.openxmlformats.org/officeDocument/2006/relationships" id="259" r:id="Ra9f89dfdfeb44dea"/>
    <p:sldId xmlns:r="http://schemas.openxmlformats.org/officeDocument/2006/relationships" id="260" r:id="R217e18f710be471d"/>
    <p:sldId xmlns:r="http://schemas.openxmlformats.org/officeDocument/2006/relationships" id="261" r:id="R4645f203d0c046ae"/>
    <p:sldId xmlns:r="http://schemas.openxmlformats.org/officeDocument/2006/relationships" id="262" r:id="R6dbfdfb6045440a7"/>
    <p:sldId xmlns:r="http://schemas.openxmlformats.org/officeDocument/2006/relationships" id="263" r:id="R476f5565196243ac"/>
    <p:sldId xmlns:r="http://schemas.openxmlformats.org/officeDocument/2006/relationships" id="264" r:id="Rc2ea4f331d5e4469"/>
    <p:sldId xmlns:r="http://schemas.openxmlformats.org/officeDocument/2006/relationships" id="265" r:id="R66b9fa1e14ff48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83c6519e5c440e" /><Relationship Type="http://schemas.openxmlformats.org/officeDocument/2006/relationships/slideMaster" Target="/ppt/slideMasters/slideMaster1.xml" Id="R9e20dd5c6866455d" /><Relationship Type="http://schemas.openxmlformats.org/officeDocument/2006/relationships/notesMaster" Target="/ppt/notesMasters/notesMaster1.xml" Id="Rd465ef786fcd4e84" /><Relationship Type="http://schemas.openxmlformats.org/officeDocument/2006/relationships/presProps" Target="/ppt/presProps.xml" Id="Re1360fb8326a4502" /><Relationship Type="http://schemas.openxmlformats.org/officeDocument/2006/relationships/tableStyles" Target="/ppt/tableStyles.xml" Id="R9d8a8af180684b39" /><Relationship Type="http://schemas.openxmlformats.org/officeDocument/2006/relationships/slide" Target="/ppt/slides/slide1.xml" Id="Rea9de7aaea0c44fd" /><Relationship Type="http://schemas.openxmlformats.org/officeDocument/2006/relationships/slide" Target="/ppt/slides/slide2.xml" Id="Rbf3550db516e4ac0" /><Relationship Type="http://schemas.openxmlformats.org/officeDocument/2006/relationships/slide" Target="/ppt/slides/slide3.xml" Id="R044e3bfa27e94ffe" /><Relationship Type="http://schemas.openxmlformats.org/officeDocument/2006/relationships/slide" Target="/ppt/slides/slide4.xml" Id="Ra9f89dfdfeb44dea" /><Relationship Type="http://schemas.openxmlformats.org/officeDocument/2006/relationships/slide" Target="/ppt/slides/slide5.xml" Id="R217e18f710be471d" /><Relationship Type="http://schemas.openxmlformats.org/officeDocument/2006/relationships/slide" Target="/ppt/slides/slide6.xml" Id="R4645f203d0c046ae" /><Relationship Type="http://schemas.openxmlformats.org/officeDocument/2006/relationships/slide" Target="/ppt/slides/slide7.xml" Id="R6dbfdfb6045440a7" /><Relationship Type="http://schemas.openxmlformats.org/officeDocument/2006/relationships/slide" Target="/ppt/slides/slide8.xml" Id="R476f5565196243ac" /><Relationship Type="http://schemas.openxmlformats.org/officeDocument/2006/relationships/slide" Target="/ppt/slides/slide9.xml" Id="Rc2ea4f331d5e4469" /><Relationship Type="http://schemas.openxmlformats.org/officeDocument/2006/relationships/slide" Target="/ppt/slides/slide10.xml" Id="R66b9fa1e14ff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298610f7f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khSandhu">
  <a:themeElements>
    <a:clrScheme name="SukhSandhu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ukhSandh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95e16d3604bf5" /><Relationship Type="http://schemas.openxmlformats.org/officeDocument/2006/relationships/notesMaster" Target="/ppt/notesMasters/notesMaster1.xml" Id="Rb3ee2227ceb244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288ee15924cf0" /><Relationship Type="http://schemas.openxmlformats.org/officeDocument/2006/relationships/notesMaster" Target="/ppt/notesMasters/notesMaster1.xml" Id="R5a4c8a232cd741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5805eb49f94007" /><Relationship Type="http://schemas.openxmlformats.org/officeDocument/2006/relationships/notesMaster" Target="/ppt/notesMasters/notesMaster1.xml" Id="R501cf1aa603c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aee7517d8485d" /><Relationship Type="http://schemas.openxmlformats.org/officeDocument/2006/relationships/notesMaster" Target="/ppt/notesMasters/notesMaster1.xml" Id="Rf263b45e3135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bba15847bb40a2" /><Relationship Type="http://schemas.openxmlformats.org/officeDocument/2006/relationships/notesMaster" Target="/ppt/notesMasters/notesMaster1.xml" Id="Rea5a7ce542cd48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44c423e7a545e2" /><Relationship Type="http://schemas.openxmlformats.org/officeDocument/2006/relationships/notesMaster" Target="/ppt/notesMasters/notesMaster1.xml" Id="Rd76380a8eda446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ca8c010f0c432b" /><Relationship Type="http://schemas.openxmlformats.org/officeDocument/2006/relationships/notesMaster" Target="/ppt/notesMasters/notesMaster1.xml" Id="R8a73fe9391d7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0c5bb770a42b0" /><Relationship Type="http://schemas.openxmlformats.org/officeDocument/2006/relationships/notesMaster" Target="/ppt/notesMasters/notesMaster1.xml" Id="Ree9b3a5e0b4c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7e257068874fcd" /><Relationship Type="http://schemas.openxmlformats.org/officeDocument/2006/relationships/notesMaster" Target="/ppt/notesMasters/notesMaster1.xml" Id="R2b0d531cbf5c43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16dadb3e39418a" /><Relationship Type="http://schemas.openxmlformats.org/officeDocument/2006/relationships/notesMaster" Target="/ppt/notesMasters/notesMaster1.xml" Id="R159409bc495a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real-world healthcare operations problem.</a:t>
            </a:r>
          </a:p>
          <a:p xmlns:a="http://schemas.openxmlformats.org/drawingml/2006/main">
            <a:r>
              <a:t>State clearly that this system is a triage workbench, not a diagnostic or treatment tool.</a:t>
            </a:r>
          </a:p>
          <a:p xmlns:a="http://schemas.openxmlformats.org/drawingml/2006/main">
            <a:r>
              <a:t>Preview that the defense will cover integration, evaluation, ethics, and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sector as healthcare operations.</a:t>
            </a:r>
          </a:p>
          <a:p xmlns:a="http://schemas.openxmlformats.org/drawingml/2006/main">
            <a:r>
              <a:t>Explain why the problem matters: delays, inconsistent routing, hidden uncertainty, and accountability.</a:t>
            </a:r>
          </a:p>
          <a:p xmlns:a="http://schemas.openxmlformats.org/drawingml/2006/main">
            <a:r>
              <a:t>Emphasize that AI is used for decision support and triage, not final clinical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 through the system architecture.</a:t>
            </a:r>
          </a:p>
          <a:p xmlns:a="http://schemas.openxmlformats.org/drawingml/2006/main">
            <a:r>
              <a:t>Call out that this is a workflow architecture, not a collection of disconnected notebooks.</a:t>
            </a:r>
          </a:p>
          <a:p xmlns:a="http://schemas.openxmlformats.org/drawingml/2006/main">
            <a:r>
              <a:t>Explain how the agentic layer orchestrates evidence and policy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at least three prior projects explicitly.</a:t>
            </a:r>
          </a:p>
          <a:p xmlns:a="http://schemas.openxmlformats.org/drawingml/2006/main">
            <a:r>
              <a:t>Describe what each contributed and why the combination improves the solution.</a:t>
            </a:r>
          </a:p>
          <a:p xmlns:a="http://schemas.openxmlformats.org/drawingml/2006/main">
            <a:r>
              <a:t>Use the table to show synthesis across domains.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 the technical choices without claiming they are perfect.</a:t>
            </a:r>
          </a:p>
          <a:p xmlns:a="http://schemas.openxmlformats.org/drawingml/2006/main">
            <a:r>
              <a:t>Explain why transparency matters more than black-box complexity at this prototype stage.</a:t>
            </a:r>
          </a:p>
          <a:p xmlns:a="http://schemas.openxmlformats.org/drawingml/2006/main">
            <a:r>
              <a:t>Make clear what alternatives were considered and why they were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four scenario outputs and why each decision is reasonable.</a:t>
            </a:r>
          </a:p>
          <a:p xmlns:a="http://schemas.openxmlformats.org/drawingml/2006/main">
            <a:r>
              <a:t>Point out strengths, limitations, and observed risks.</a:t>
            </a:r>
          </a:p>
          <a:p xmlns:a="http://schemas.openxmlformats.org/drawingml/2006/main">
            <a:r>
              <a:t>Do not overclaim: these are prototype scenario tests, not clinical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every ethical point directly to the actual system design.</a:t>
            </a:r>
          </a:p>
          <a:p xmlns:a="http://schemas.openxmlformats.org/drawingml/2006/main">
            <a:r>
              <a:t>Mention bias, misuse, transparency, accountability, and safety.</a:t>
            </a:r>
          </a:p>
          <a:p xmlns:a="http://schemas.openxmlformats.org/drawingml/2006/main">
            <a:r>
              <a:t>Explain safeguards as design choices, not generic statements.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candid about weaknesses.</a:t>
            </a:r>
          </a:p>
          <a:p xmlns:a="http://schemas.openxmlformats.org/drawingml/2006/main">
            <a:r>
              <a:t>Explain likely failure cases: missing data, domain shift, overtrust, poor thresholds, and unsupported inputs.</a:t>
            </a:r>
          </a:p>
          <a:p xmlns:a="http://schemas.openxmlformats.org/drawingml/2006/main">
            <a:r>
              <a:t>Show reflective judgment rather than defensiveness.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project to real-world AI roles.</a:t>
            </a:r>
          </a:p>
          <a:p xmlns:a="http://schemas.openxmlformats.org/drawingml/2006/main">
            <a:r>
              <a:t>Name the technical, analytical, ethical, and communication skills demonstrated.</a:t>
            </a:r>
          </a:p>
          <a:p xmlns:a="http://schemas.openxmlformats.org/drawingml/2006/main">
            <a:r>
              <a:t>Keep the tone professional and grounded.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clear next steps.</a:t>
            </a:r>
          </a:p>
          <a:p xmlns:a="http://schemas.openxmlformats.org/drawingml/2006/main">
            <a:r>
              <a:t>Invite mentor questions about validation, ethics, integration, and tradeoffs.</a:t>
            </a:r>
          </a:p>
          <a:p xmlns:a="http://schemas.openxmlformats.org/drawingml/2006/main">
            <a:r>
              <a:t>Use the final line to reinforce readiness for professional AI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c7df90b704a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fee7dde1c4d2b" /><Relationship Type="http://schemas.openxmlformats.org/officeDocument/2006/relationships/slideLayout" Target="/ppt/slideLayouts/slideLayout1.xml" Id="R6488c0b323ac49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8c0b323ac49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ukhSandhu">
  <a:themeElements>
    <a:clrScheme name="SukhSandhu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ukhSandh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f930820f14f07" /><Relationship Type="http://schemas.openxmlformats.org/officeDocument/2006/relationships/notesSlide" Target="/ppt/notesSlides/notesSlide1.xml" Id="R2639f16bc48b47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606cebc144e26" /><Relationship Type="http://schemas.openxmlformats.org/officeDocument/2006/relationships/notesSlide" Target="/ppt/notesSlides/notesSlide2.xml" Id="R2a658986835b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15fa21e774035" /><Relationship Type="http://schemas.openxmlformats.org/officeDocument/2006/relationships/notesSlide" Target="/ppt/notesSlides/notesSlide3.xml" Id="Rf69bf416fbd3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51fc55bc4471f" /><Relationship Type="http://schemas.openxmlformats.org/officeDocument/2006/relationships/notesSlide" Target="/ppt/notesSlides/notesSlide4.xml" Id="R0df8009d491b47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beaff92d24d33" /><Relationship Type="http://schemas.openxmlformats.org/officeDocument/2006/relationships/notesSlide" Target="/ppt/notesSlides/notesSlide5.xml" Id="R993a6de28f3b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dc125219f4fd5" /><Relationship Type="http://schemas.openxmlformats.org/officeDocument/2006/relationships/chart" Target="/ppt/slides/charts/chart1.xml" Id="R2bb16f81f8494a2f" /><Relationship Type="http://schemas.openxmlformats.org/officeDocument/2006/relationships/notesSlide" Target="/ppt/notesSlides/notesSlide6.xml" Id="Rdf1680328b91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b602c1c424141" /><Relationship Type="http://schemas.openxmlformats.org/officeDocument/2006/relationships/notesSlide" Target="/ppt/notesSlides/notesSlide7.xml" Id="R6cd00926ed634b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c1ceebbc645b5" /><Relationship Type="http://schemas.openxmlformats.org/officeDocument/2006/relationships/notesSlide" Target="/ppt/notesSlides/notesSlide8.xml" Id="Rf34b40caeb94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60911bccf453a" /><Relationship Type="http://schemas.openxmlformats.org/officeDocument/2006/relationships/notesSlide" Target="/ppt/notesSlides/notesSlide9.xml" Id="R4cac9b78da0b4d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b4e656d254fa3" /><Relationship Type="http://schemas.openxmlformats.org/officeDocument/2006/relationships/notesSlide" Target="/ppt/notesSlides/notesSlide10.xml" Id="Rec7809dab8944f0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Integrated risk score (%)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SYN-001</c:v>
              </c:pt>
              <c:pt idx="1">
                <c:v>SYN-002</c:v>
              </c:pt>
              <c:pt idx="2">
                <c:v>SYN-003</c:v>
              </c:pt>
              <c:pt idx="3">
                <c:v>SYN-004</c:v>
              </c:pt>
            </c:strLit>
          </c:cat>
          <c:val>
            <c:numLit>
              <c:formatCode>General</c:formatCode>
              <c:ptCount val="4"/>
              <c:pt idx="0">
                <c:v>12</c:v>
              </c:pt>
              <c:pt idx="1">
                <c:v>62</c:v>
              </c:pt>
              <c:pt idx="2">
                <c:v>34</c:v>
              </c:pt>
              <c:pt idx="3">
                <c:v>98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06049-73B4-44AA-8B08-61E8D428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86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050BC-AF74-4DB7-9659-46F6C04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33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Healthcare AI Operations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87004-F2D2-4EA4-BF67-0631089C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242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Integrated AI systems synthesis and professional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313DC-C4D7-4EAA-96BB-F7CC4D8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14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Sukh Sandhu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7CE56-6D11-4DAB-A4F2-74EEF61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57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15-minute mentor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8C586-7DB0-456B-89BE-0EE2AD3C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62100"/>
            <a:ext cx="2457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035CF-4CF2-4183-BF02-ADBAD14A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2038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Controlled triage</a:t>
            </a:r>
          </a:p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not autonomous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0BE6F-C7AB-419D-94EC-C4720825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92765-BC21-42DA-B1A3-6850C638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5947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C9736-35D3-4D43-8D1F-66701C3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A5200-663C-48DA-A934-FC504026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Industry Context and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D4E6-BB3D-43F6-AF4D-A5EE65DF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1A2B6-0AEE-4DB4-945A-7E13365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Healthcare operations teams must route cases using incomplete data, model signals, scanned artifacts, and policy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F1344-5D70-4D60-9257-5E937D9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64389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Manual review queues are expensive and inconsistent.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Automated scores can be overtrusted when uncertainty is hidden.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AI is appropriate when it improves prioritization and transparency.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The boundary is explicit: humans approve patient-facing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06153-2D42-480E-AF42-4365433B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4A2CC-DE27-4CDA-B554-44C32BAD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D7F42-FCD2-4CDE-9770-74931130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Route the right case to the right human queue.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517B5-4086-416F-8AC2-C2E1C18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04255-3970-4DA8-AC62-1841112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690FA-C678-4C4C-A041-88E63F2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Automation bias and weak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E03A4-18C4-408A-BEAC-1389E24F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8E574-C198-4EBB-9030-90A71933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Design 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0572F-8D65-409C-98DB-DEFBD6F3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196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Evidence-led routing with human approval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D74BB-2B43-4E97-AF6A-603F74D0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832C1-2445-4D2B-BF91-4B08EBD6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41593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DB3F8-0FA3-44E9-9DC9-810921A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36D14-B5F8-4BBC-9F73-7C6FB10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Integrated AI 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C8452-0079-4559-A62D-98D56A9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BF34-4E92-401F-8A17-023F0B8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FDFDF-B631-43B8-B59D-5B93E0F5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Data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15C57-A930-463F-A0E8-C7EE4084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193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5555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34EA5-9D7A-4757-AEE6-F1479127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EC07A-0C75-46E7-955D-7A3602A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Statistical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A40F7-1709-4903-A965-E84FDDBC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5555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E93E3-B302-41A4-8398-1F2FD92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526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2CBB6-11FA-4A50-9C9F-84D354B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Supervised 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46C61-ED8A-4403-9B53-F4FCD49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5555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097E1-CD91-4292-912E-2503DA6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95A3B-F258-4B66-8B9E-DD85B4F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CNN visual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B46A0-29CE-49AD-B755-4F54CC10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5555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8DD89-3D5F-4E63-A49E-F44FD5D6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D6EB4-13D7-422F-AC83-E0D6647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VAE quality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09470-2F53-4529-8EEF-BC32DD07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5555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C8663-F684-4A94-A5FD-52D108FA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5265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70289-6DD2-4A9E-92BD-5BBDDFB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Agentic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74DFB-AF9E-46DB-B687-30708EC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Data and model signals are combined only after quality checks. The final layer applies policy boundaries and sends uncertain or patient-facing cases to human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7D3A5-C778-4A7B-BE3F-2FF1B9F5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- Observable scenario outputs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- Component-level rationale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- Human approval for patient-facing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E83CE-5D68-42D4-B867-ADFD8CA2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83522-2919-4391-8D5D-25B1FF76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40872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AC264-7893-4AD7-9088-05FB839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86747-C3D5-4F25-A698-8A6AEB81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Integration of Prior Projects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4CC19-9BFC-4228-B61E-1414F404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1676400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62250"/>
                <a:gridCol w="3905250"/>
                <a:gridCol w="3905250"/>
              </a:tblGrid>
              <a:tr h="603250">
                <a:tc>
                  <a:txBody>
                    <a:bodyPr/>
                    <a:lstStyle/>
                    <a:p>
                      <a:r>
                        <a:t>Prior project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Programming + statistics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Ingestion, cleaning, EDA, descriptive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Prevents downstream models from hiding weak data quality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Applied ML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Structured supervised risk scoring and class metrics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Adds predictive signal and measurable tradeoffs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Deep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CNN pattern for visual or scanned intake artifacts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Extends the system beyond tabular signals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Generative 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VAE reconstruction and outlier-style quality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Flags unusual examples before routing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Agentic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Policy-aware reasoning, memory, tools, and fallback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Turns signals into bounded human-review decisions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8CB20-67A6-4802-861D-DC52EE7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79089-4539-4181-B8E2-F6CE1C96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81246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2A3FB-B62C-406A-B993-AE707C2E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DA60E-42D5-4A18-A554-22F6E1ED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Key Technical Decisions and Tradeoffs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55E2B-1CD9-4D4E-AD8A-2959A417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2ACC0-88EF-4010-B4A3-0AAC9A4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52E9-1F7E-4A56-AF9C-F8EBA23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B8E5C-2B8B-454D-B668-21B7687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Deterministic routing for auditability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Class-specific metrics for asymmetric risk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Public benchmark data for reproducibility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Hard human gate for patient-facing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2AA88-C04A-4D57-86D1-50EF6AC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0EB3A-1247-4F8C-B5F2-1F9C9CAF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Tradeoffs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A1F9D-9F06-4A73-A6DB-7780392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Interpretable rules underfit complex interactions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Benchmarks are reproducible but not clinical validation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Generative outputs help inspection but can be overread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Agent logic is transparent but threshold-dependent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549F7-26B0-4149-B91F-22E7B00D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323AF-6DA4-4841-B4C7-8431F6E0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39304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26667C-E727-41FB-A09A-E2FE963B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E8657-5A4C-4C83-8D59-430B74C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Evaluation Results and System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343A1-C67C-4383-974F-0FF90C5B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60960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b16f81f8494a2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9B9CA-A781-4EC2-A712-4C8DAF5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9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Observed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8DB55-EFD5-4147-ACB4-EDFA9105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3733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Standard cases stayed in the operations queue.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Low confidence and uncertainty escalated review.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Patient-facing cases required human approval.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Combined high-risk signals triggered expedited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FF3BD-D52B-4A7D-8D96-4C0263A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Evaluation is mixed: quantitative scenario scores plus qualitative failure-case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5B43E-CC06-4B9B-8008-54B25EE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0E024-C887-434F-8A64-68D0882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78829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4BFEB-2853-479D-8ECC-78E886C3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30457-8EEB-4C6B-9B40-AD184828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Ethical Considerations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FB797-8166-419B-AE0C-425C9DE7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2754A-631F-4CE3-B6C6-44FA66FB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7A042-6F69-4AC7-9E15-0FE3FFE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Automation bias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DCB43-F15D-40B4-904C-5244086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383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Show component signals and uncertainty before routing.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C5C7E-EC4A-4E2D-A3BF-F0CFF3B2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6501E-BF5C-4C83-AAB0-F8DD9212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Unequal performance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1CCD0-0344-4721-B96D-B41D825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289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Require future subgroup validation and monitoring.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7C79E-03C4-4398-BDFB-48602E55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2AB8D-D947-4BC1-A8D9-D73FC81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Accountability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002ED-6C24-4A8E-9CA9-C079364E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Keep patient-facing decisions under human approval.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740BB-C17B-4D2C-B345-44A8C8F0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3E7D9-BD8F-445E-A138-9701CE42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Transparency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803F5-7FE4-4E25-A4CD-37F7E1A5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Log tool observations and routing rationale.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A80D4-DCF0-4BB9-9CF1-A241CE4B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E2F17-5AC5-4749-A7E2-03BB188B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46110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744873-DFCF-4085-89BC-2C06505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0B913-6249-42EE-8F00-DBF966E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Limitations, Failure Cases,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FDBD5-EAEB-4C8C-9AAB-CBBF4A6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B4694-B61B-49EC-B200-1E9780ED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The prototype is intentionally bounded. It demonstrates integration and reasoning, not production readiness.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39759-DADE-4B39-9118-1209F6EB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276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78E15-FA7F-41C0-9AB2-6DBEA3FE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C923-531D-4675-9382-087FDFF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Benchmark datasets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Limited population context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No clinical-site variation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F5934-4864-42B0-8344-F2FDDF4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276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2288E-9D86-4185-807A-A9680AD7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E2771-4620-48EC-A6AB-4D0EF3B6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Single split evaluation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Prototype thresholds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Potential distribution drift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8B36F-6623-4212-9454-45BB9544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3276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1E9C2-2471-441B-8AB1-D9A7B98D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4783F-B2D5-4B9E-9221-218F40B0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Structured inputs only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Human process dependency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Requires governance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632E0-0BBB-4CE9-9981-AEAAF712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33CC9-0FC8-4D2A-9F97-AC9A9DD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15968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F5884-B9F8-410F-BAB0-B71B4A0F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FAFC4-4B3E-4EB3-AF1D-17B978F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Professional Relevance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4CCF2-3D3C-402F-BE5B-E8B79FC9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236DD-F8D6-47CF-8655-F7505010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895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This capstone demonstrates the full path from data workflow to model evaluation to responsible system integration.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22F6B-D3A4-4580-BEC9-1AC2EE07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819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Reproducible notebooks and reports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Statistical reasoning and hypothesis testing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Supervised ML evaluation and interpretation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Deep learning and generative-model experimentation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Agentic workflow design with safety boundaries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Communication for technical and non-technical audiences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85CC-C229-419D-9E2A-E0904DD1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28800"/>
            <a:ext cx="14859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A0C83-8A0C-4142-BA8C-4CB77D7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114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Ready to discuss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tradeoffs,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limits, and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next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8E1AF-882E-4101-9A0F-81069D2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BEF58-CF88-4D2B-A726-3EC1E30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34840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DC459-B031-4CED-A0AB-6F156974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44382-C40C-4827-9C54-6E84BBE2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Next Steps and Defense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451B9-5339-4D4C-81D0-2AB036C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494BC-5BB0-4550-83C8-B0E50A9E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The next version should move from capstone prototype to governed validation workflow.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98869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029450"/>
              </a:tblGrid>
              <a:tr h="419100">
                <a:tc>
                  <a:txBody>
                    <a:bodyPr/>
                    <a:lstStyle/>
                    <a:p>
                      <a:r>
                        <a:t>Improvement area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step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External data, repeated splits, calibration, and subgroup checks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Reviewer dashboard, feedback loops, and threshold review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Governance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 logs, access controls, risk acceptance, and monitoring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t>Modeling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Domain-specific imaging data and richer uncertainty handling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5740F-557A-4698-8D16-76385024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Defense focus: why these components were integrated, what the system can and cannot do, and how ethical risk shaped the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5CD55-E9AB-4C91-ACEE-5FEE781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Sukh Sandhu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93C72-B77F-4ECB-991B-256E74E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7183198"/>
      </p:ext>
    </p:extLst>
  </p:cSld>
</p:sld>
</file>

<file path=ppt/theme/theme1.xml><?xml version="1.0" encoding="utf-8"?>
<a:theme xmlns:a="http://schemas.openxmlformats.org/drawingml/2006/main" name="SukhSandhu">
  <a:themeElements>
    <a:clrScheme name="SukhSandhu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ukhSandh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2026-06-25T22:05:56.8930000Z</dcterms:created>
  <dcterms:modified xsi:type="dcterms:W3CDTF">2026-06-25T22:05:56.8930000Z</dcterms:modified>
</coreProperties>
</file>