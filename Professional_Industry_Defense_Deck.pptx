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e8e469e94b4dbb" /><Relationship Type="http://schemas.openxmlformats.org/officeDocument/2006/relationships/extended-properties" Target="/docProps/app.xml" Id="R62ef552d6cfd4d47" /><Relationship Type="http://schemas.openxmlformats.org/officeDocument/2006/relationships/officeDocument" Target="/ppt/presentation.xml" Id="Ra1d3ce85d23d479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f1ffd6bd8144dd8"/>
  </p:sldMasterIdLst>
  <p:notesMasterIdLst>
    <p:notesMasterId xmlns:r="http://schemas.openxmlformats.org/officeDocument/2006/relationships" r:id="R82a40c0455af4e4b"/>
  </p:notesMasterIdLst>
  <p:sldIdLst>
    <p:sldId xmlns:r="http://schemas.openxmlformats.org/officeDocument/2006/relationships" id="256" r:id="R178883368839491a"/>
    <p:sldId xmlns:r="http://schemas.openxmlformats.org/officeDocument/2006/relationships" id="257" r:id="R55c667b8dc814d34"/>
    <p:sldId xmlns:r="http://schemas.openxmlformats.org/officeDocument/2006/relationships" id="258" r:id="Rd7807477b3d3441e"/>
    <p:sldId xmlns:r="http://schemas.openxmlformats.org/officeDocument/2006/relationships" id="259" r:id="R7b84488945fa4bf5"/>
    <p:sldId xmlns:r="http://schemas.openxmlformats.org/officeDocument/2006/relationships" id="260" r:id="R15a63714ec264de7"/>
    <p:sldId xmlns:r="http://schemas.openxmlformats.org/officeDocument/2006/relationships" id="261" r:id="Rb0e91aec77d0435c"/>
    <p:sldId xmlns:r="http://schemas.openxmlformats.org/officeDocument/2006/relationships" id="262" r:id="R356a98eaa5eb446f"/>
    <p:sldId xmlns:r="http://schemas.openxmlformats.org/officeDocument/2006/relationships" id="263" r:id="R748da045237f41c9"/>
    <p:sldId xmlns:r="http://schemas.openxmlformats.org/officeDocument/2006/relationships" id="264" r:id="R075853c88a73452d"/>
    <p:sldId xmlns:r="http://schemas.openxmlformats.org/officeDocument/2006/relationships" id="265" r:id="R0a080a93d6334b90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66ce64d07b4ccb" /><Relationship Type="http://schemas.openxmlformats.org/officeDocument/2006/relationships/slideMaster" Target="/ppt/slideMasters/slideMaster1.xml" Id="Ref1ffd6bd8144dd8" /><Relationship Type="http://schemas.openxmlformats.org/officeDocument/2006/relationships/notesMaster" Target="/ppt/notesMasters/notesMaster1.xml" Id="R82a40c0455af4e4b" /><Relationship Type="http://schemas.openxmlformats.org/officeDocument/2006/relationships/presProps" Target="/ppt/presProps.xml" Id="Rba14fe025d09400d" /><Relationship Type="http://schemas.openxmlformats.org/officeDocument/2006/relationships/tableStyles" Target="/ppt/tableStyles.xml" Id="Rf1458943fb174de2" /><Relationship Type="http://schemas.openxmlformats.org/officeDocument/2006/relationships/slide" Target="/ppt/slides/slide1.xml" Id="R178883368839491a" /><Relationship Type="http://schemas.openxmlformats.org/officeDocument/2006/relationships/slide" Target="/ppt/slides/slide2.xml" Id="R55c667b8dc814d34" /><Relationship Type="http://schemas.openxmlformats.org/officeDocument/2006/relationships/slide" Target="/ppt/slides/slide3.xml" Id="Rd7807477b3d3441e" /><Relationship Type="http://schemas.openxmlformats.org/officeDocument/2006/relationships/slide" Target="/ppt/slides/slide4.xml" Id="R7b84488945fa4bf5" /><Relationship Type="http://schemas.openxmlformats.org/officeDocument/2006/relationships/slide" Target="/ppt/slides/slide5.xml" Id="R15a63714ec264de7" /><Relationship Type="http://schemas.openxmlformats.org/officeDocument/2006/relationships/slide" Target="/ppt/slides/slide6.xml" Id="Rb0e91aec77d0435c" /><Relationship Type="http://schemas.openxmlformats.org/officeDocument/2006/relationships/slide" Target="/ppt/slides/slide7.xml" Id="R356a98eaa5eb446f" /><Relationship Type="http://schemas.openxmlformats.org/officeDocument/2006/relationships/slide" Target="/ppt/slides/slide8.xml" Id="R748da045237f41c9" /><Relationship Type="http://schemas.openxmlformats.org/officeDocument/2006/relationships/slide" Target="/ppt/slides/slide9.xml" Id="R075853c88a73452d" /><Relationship Type="http://schemas.openxmlformats.org/officeDocument/2006/relationships/slide" Target="/ppt/slides/slide10.xml" Id="R0a080a93d6334b9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636e246bce842a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77a2c4490fb4efa" /><Relationship Type="http://schemas.openxmlformats.org/officeDocument/2006/relationships/notesMaster" Target="/ppt/notesMasters/notesMaster1.xml" Id="R58099884eb4d41e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008ee4df0034edd" /><Relationship Type="http://schemas.openxmlformats.org/officeDocument/2006/relationships/notesMaster" Target="/ppt/notesMasters/notesMaster1.xml" Id="R3b86470c4d564a9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08321267bbb4018" /><Relationship Type="http://schemas.openxmlformats.org/officeDocument/2006/relationships/notesMaster" Target="/ppt/notesMasters/notesMaster1.xml" Id="Rb58ade6e9a1e435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66ea4723e3f496a" /><Relationship Type="http://schemas.openxmlformats.org/officeDocument/2006/relationships/notesMaster" Target="/ppt/notesMasters/notesMaster1.xml" Id="R0afb7de8371344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d71e2a55aeb84071" /><Relationship Type="http://schemas.openxmlformats.org/officeDocument/2006/relationships/notesMaster" Target="/ppt/notesMasters/notesMaster1.xml" Id="R1b7741b14c1845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2ca5d55c738842f6" /><Relationship Type="http://schemas.openxmlformats.org/officeDocument/2006/relationships/notesMaster" Target="/ppt/notesMasters/notesMaster1.xml" Id="Rd08912c5e47a449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9491c3b54e346fa" /><Relationship Type="http://schemas.openxmlformats.org/officeDocument/2006/relationships/notesMaster" Target="/ppt/notesMasters/notesMaster1.xml" Id="Rb70156a0ce98421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7396c569f044f5" /><Relationship Type="http://schemas.openxmlformats.org/officeDocument/2006/relationships/notesMaster" Target="/ppt/notesMasters/notesMaster1.xml" Id="Rc903de24899a4dd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78569b4a5c4db6" /><Relationship Type="http://schemas.openxmlformats.org/officeDocument/2006/relationships/notesMaster" Target="/ppt/notesMasters/notesMaster1.xml" Id="Rb0ed39bde0eb449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8045d1a9bb349ef" /><Relationship Type="http://schemas.openxmlformats.org/officeDocument/2006/relationships/notesMaster" Target="/ppt/notesMasters/notesMaster1.xml" Id="R6d20ed5aa5324b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real-world healthcare operations problem.</a:t>
            </a:r>
          </a:p>
          <a:p xmlns:a="http://schemas.openxmlformats.org/drawingml/2006/main">
            <a:r>
              <a:t>State clearly that this system is a triage workbench, not a diagnostic or treatment tool.</a:t>
            </a:r>
          </a:p>
          <a:p xmlns:a="http://schemas.openxmlformats.org/drawingml/2006/main">
            <a:r>
              <a:t>Preview that the defense will cover integration, evaluation, ethics, and next steps.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Define the sector as healthcare operations.</a:t>
            </a:r>
          </a:p>
          <a:p xmlns:a="http://schemas.openxmlformats.org/drawingml/2006/main">
            <a:r>
              <a:t>Explain why the problem matters: delays, inconsistent routing, hidden uncertainty, and accountability.</a:t>
            </a:r>
          </a:p>
          <a:p xmlns:a="http://schemas.openxmlformats.org/drawingml/2006/main">
            <a:r>
              <a:t>Emphasize that AI is used for decision support and triage, not final clinical action.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from left to right through the system architecture.</a:t>
            </a:r>
          </a:p>
          <a:p xmlns:a="http://schemas.openxmlformats.org/drawingml/2006/main">
            <a:r>
              <a:t>Call out that this is a workflow architecture, not a collection of disconnected notebooks.</a:t>
            </a:r>
          </a:p>
          <a:p xmlns:a="http://schemas.openxmlformats.org/drawingml/2006/main">
            <a:r>
              <a:t>Explain how the agentic layer orchestrates evidence and policy constraints.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Name at least three prior projects explicitly.</a:t>
            </a:r>
          </a:p>
          <a:p xmlns:a="http://schemas.openxmlformats.org/drawingml/2006/main">
            <a:r>
              <a:t>Describe what each contributed and why the combination improves the solution.</a:t>
            </a:r>
          </a:p>
          <a:p xmlns:a="http://schemas.openxmlformats.org/drawingml/2006/main">
            <a:r>
              <a:t>Use the table to show synthesis across domains.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Defend the technical choices without claiming they are perfect.</a:t>
            </a:r>
          </a:p>
          <a:p xmlns:a="http://schemas.openxmlformats.org/drawingml/2006/main">
            <a:r>
              <a:t>Explain why transparency matters more than black-box complexity at this prototype stage.</a:t>
            </a:r>
          </a:p>
          <a:p xmlns:a="http://schemas.openxmlformats.org/drawingml/2006/main">
            <a:r>
              <a:t>Make clear what alternatives were considered and why they were deferred.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four scenario outputs and why each decision is reasonable.</a:t>
            </a:r>
          </a:p>
          <a:p xmlns:a="http://schemas.openxmlformats.org/drawingml/2006/main">
            <a:r>
              <a:t>Point out strengths, limitations, and observed risks.</a:t>
            </a:r>
          </a:p>
          <a:p xmlns:a="http://schemas.openxmlformats.org/drawingml/2006/main">
            <a:r>
              <a:t>Do not overclaim: these are prototype scenario tests, not clinical validation.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 every ethical point directly to the actual system design.</a:t>
            </a:r>
          </a:p>
          <a:p xmlns:a="http://schemas.openxmlformats.org/drawingml/2006/main">
            <a:r>
              <a:t>Mention bias, misuse, transparency, accountability, and safety.</a:t>
            </a:r>
          </a:p>
          <a:p xmlns:a="http://schemas.openxmlformats.org/drawingml/2006/main">
            <a:r>
              <a:t>Explain safeguards as design choices, not generic statements.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 candid about weaknesses.</a:t>
            </a:r>
          </a:p>
          <a:p xmlns:a="http://schemas.openxmlformats.org/drawingml/2006/main">
            <a:r>
              <a:t>Explain likely failure cases: missing data, domain shift, overtrust, poor thresholds, and unsupported inputs.</a:t>
            </a:r>
          </a:p>
          <a:p xmlns:a="http://schemas.openxmlformats.org/drawingml/2006/main">
            <a:r>
              <a:t>Show reflective judgment rather than defensiveness.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Connect the project to real-world AI roles.</a:t>
            </a:r>
          </a:p>
          <a:p xmlns:a="http://schemas.openxmlformats.org/drawingml/2006/main">
            <a:r>
              <a:t>Name the technical, analytical, ethical, and communication skills demonstrated.</a:t>
            </a:r>
          </a:p>
          <a:p xmlns:a="http://schemas.openxmlformats.org/drawingml/2006/main">
            <a:r>
              <a:t>Keep the tone professional and grounded.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clear next steps.</a:t>
            </a:r>
          </a:p>
          <a:p xmlns:a="http://schemas.openxmlformats.org/drawingml/2006/main">
            <a:r>
              <a:t>Invite mentor questions about validation, ethics, integration, and tradeoffs.</a:t>
            </a:r>
          </a:p>
          <a:p xmlns:a="http://schemas.openxmlformats.org/drawingml/2006/main">
            <a:r>
              <a:t>Use the final line to reinforce readiness for professional AI 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9b8a06cdb847b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aeee634103c467b" /><Relationship Type="http://schemas.openxmlformats.org/officeDocument/2006/relationships/slideLayout" Target="/ppt/slideLayouts/slideLayout1.xml" Id="R27c5d0abf26d4b1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7c5d0abf26d4b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e7697102864c2e" /><Relationship Type="http://schemas.openxmlformats.org/officeDocument/2006/relationships/notesSlide" Target="/ppt/notesSlides/notesSlide1.xml" Id="R1cc05a6a443a411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bf3abe61eb42d0" /><Relationship Type="http://schemas.openxmlformats.org/officeDocument/2006/relationships/notesSlide" Target="/ppt/notesSlides/notesSlide2.xml" Id="R1fec0e3b3b40411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770c1702304a8c" /><Relationship Type="http://schemas.openxmlformats.org/officeDocument/2006/relationships/notesSlide" Target="/ppt/notesSlides/notesSlide3.xml" Id="R3d2da54791214c3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7dcf4002f147a1" /><Relationship Type="http://schemas.openxmlformats.org/officeDocument/2006/relationships/notesSlide" Target="/ppt/notesSlides/notesSlide4.xml" Id="R5376dcdf0ce348d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f9fdc698594064" /><Relationship Type="http://schemas.openxmlformats.org/officeDocument/2006/relationships/notesSlide" Target="/ppt/notesSlides/notesSlide5.xml" Id="R7be48bdf68734fd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fe87104ebe496f" /><Relationship Type="http://schemas.openxmlformats.org/officeDocument/2006/relationships/chart" Target="/ppt/slides/charts/chart1.xml" Id="R051059f82ffd46cc" /><Relationship Type="http://schemas.openxmlformats.org/officeDocument/2006/relationships/notesSlide" Target="/ppt/notesSlides/notesSlide6.xml" Id="R989a124c0d4c4e1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14432a3fe94314" /><Relationship Type="http://schemas.openxmlformats.org/officeDocument/2006/relationships/notesSlide" Target="/ppt/notesSlides/notesSlide7.xml" Id="Rd972d47212044cf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e8de09dc5c4faa" /><Relationship Type="http://schemas.openxmlformats.org/officeDocument/2006/relationships/notesSlide" Target="/ppt/notesSlides/notesSlide8.xml" Id="R1582b8b879c848d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52aba3eef64392" /><Relationship Type="http://schemas.openxmlformats.org/officeDocument/2006/relationships/notesSlide" Target="/ppt/notesSlides/notesSlide9.xml" Id="Ra9eda6a75a7f475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38ad2b3c28459a" /><Relationship Type="http://schemas.openxmlformats.org/officeDocument/2006/relationships/notesSlide" Target="/ppt/notesSlides/notesSlide10.xml" Id="Rd1a0fd8a360e4427" /></Relationships>
</file>

<file path=ppt/slides/charts/chart1.xml><?xml version="1.0" encoding="utf-8"?>
<c:chartSpace xmlns:c="http://schemas.openxmlformats.org/drawingml/2006/chart">
  <c:lang val="en-US"/>
  <c:roundedCorners val="0"/>
  <c:chart>
    <c:plotArea>
      <c:layout/>
      <c:barChart>
        <c:barDir val="col"/>
        <c:varyColors val="0"/>
        <c:ser>
          <c:idx val="0"/>
          <c:order val="0"/>
          <c:tx>
            <c:v>Integrated risk score (%)</c:v>
          </c:tx>
          <c:spPr>
            <a:solidFill xmlns:a="http://schemas.openxmlformats.org/drawingml/2006/main">
              <a:srgbClr val="FF6B35"/>
            </a:solidFill>
          </c:spPr>
          <c:dLbls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strLit>
              <c:ptCount val="4"/>
              <c:pt idx="0">
                <c:v>SYN-001</c:v>
              </c:pt>
              <c:pt idx="1">
                <c:v>SYN-002</c:v>
              </c:pt>
              <c:pt idx="2">
                <c:v>SYN-003</c:v>
              </c:pt>
              <c:pt idx="3">
                <c:v>SYN-004</c:v>
              </c:pt>
            </c:strLit>
          </c:cat>
          <c:val>
            <c:numLit>
              <c:formatCode>General</c:formatCode>
              <c:ptCount val="4"/>
              <c:pt idx="0">
                <c:v>12</c:v>
              </c:pt>
              <c:pt idx="1">
                <c:v>44</c:v>
              </c:pt>
              <c:pt idx="2">
                <c:v>18</c:v>
              </c:pt>
              <c:pt idx="3">
                <c:v>96</c:v>
              </c:pt>
            </c:numLit>
          </c:val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DDDDDD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es val="autoZero"/>
        <c:crossBetween val="between"/>
      </c:valAx>
    </c:plotArea>
    <c:plotVisOnly val="1"/>
  </c:chart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2DDEEAC-FAB6-4E04-BB99-611B59425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81000"/>
            <a:ext cx="3486150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A80CE4-E6A3-46BD-8951-201B5AAD2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9334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000000"/>
                </a:solidFill>
              </a:defRPr>
            </a:pPr>
            <a:r>
              <a:rPr sz="4350" b="1">
                <a:solidFill>
                  <a:srgbClr val="000000"/>
                </a:solidFill>
              </a:rPr>
              <a:t>Healthcare AI Operations Triage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D29A3B-E4BE-444E-B8BB-66F6723BD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3524250"/>
            <a:ext cx="7905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55555"/>
                </a:solidFill>
              </a:defRPr>
            </a:pPr>
            <a:r>
              <a:rPr sz="1875" b="0">
                <a:solidFill>
                  <a:srgbClr val="555555"/>
                </a:solidFill>
              </a:rPr>
              <a:t>Integrated AI systems synthesis and professional defense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2F08A8-1A36-4AF0-8F7D-FDF3439AC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914900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00000"/>
                </a:solidFill>
              </a:defRPr>
            </a:pPr>
            <a:r>
              <a:rPr sz="1650" b="1">
                <a:solidFill>
                  <a:srgbClr val="000000"/>
                </a:solidFill>
              </a:rPr>
              <a:t>Sukh Sandhu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2A478F-31B0-4578-B50F-81EAEE8E9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5257800"/>
            <a:ext cx="342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55555"/>
                </a:solidFill>
              </a:defRPr>
            </a:pPr>
            <a:r>
              <a:rPr sz="1350" b="0">
                <a:solidFill>
                  <a:srgbClr val="555555"/>
                </a:solidFill>
              </a:rPr>
              <a:t>15-minute mentor defense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FC19A3-D203-41E9-AE21-5507B43C7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562100"/>
            <a:ext cx="245745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C2E56A-8D29-4158-951B-4FB8EE7BE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914650"/>
            <a:ext cx="20383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Controlled triage</a:t>
            </a:r>
          </a:p>
          <a:p xmlns:a="http://schemas.openxmlformats.org/drawingml/2006/main">
            <a:pPr algn="ctr">
              <a:defRPr sz="2250" b="1">
                <a:solidFill>
                  <a:srgbClr val="000000"/>
                </a:solidFill>
              </a:defRPr>
            </a:pPr>
            <a:r>
              <a:rPr sz="2250" b="1">
                <a:solidFill>
                  <a:srgbClr val="000000"/>
                </a:solidFill>
              </a:rPr>
              <a:t>not autonomous diagnosis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25597F-5721-4F39-B52A-374BF1ED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5A6081-EBB5-44E5-9E34-DAE24577D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2391131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9D0FB65-1AA4-40B8-A025-4E6647594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07E5B4-1320-43A8-844D-FB493EA2C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Industry Context and 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2FD437-A102-43A2-A00F-3DFCDE30D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95156F-EF68-4EAC-878D-D8AFB13AD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38300"/>
            <a:ext cx="7239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Healthcare operations teams must route cases using incomplete data, model signals, scanned artifacts, and policy constraints.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F3C4D2-8F86-48DF-8174-3442902A1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28950"/>
            <a:ext cx="64389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Manual review queues are expensive and inconsistent.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Automated scores can be overtrusted when uncertainty is hidden.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AI is appropriate when it improves prioritization and transparency.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The boundary is explicit: humans approve patient-facing outcomes.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7F58C-8C57-479D-9384-C2981E93C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752600"/>
            <a:ext cx="3333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84DAB-3299-4B6E-B6D3-086013356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9240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Goal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1181297-E4AC-4E2A-8055-9D96B11F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2098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Route the right case to the right human queue.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54CB70B-0E07-4FB4-804C-D44CF2256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3333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9B240-4D40-421A-BC4E-67D52001C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028950"/>
            <a:ext cx="95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Risk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322212-6193-4E48-B805-077B05EF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147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Automation bias and weak accountability.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BEE05E-0A83-4867-BBD3-0719B960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62400"/>
            <a:ext cx="3333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52E7E2-5C64-46E9-9FEF-E1AF8A44D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13385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000000"/>
                </a:solidFill>
              </a:defRPr>
            </a:pPr>
            <a:r>
              <a:rPr sz="1425" b="1">
                <a:solidFill>
                  <a:srgbClr val="000000"/>
                </a:solidFill>
              </a:rPr>
              <a:t>Design stance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CA7B6-5BBA-4BF6-A441-83D791BD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781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Evidence-led routing with human approval gates.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7749DF-0A09-4D69-873D-3E9240CD3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B8D4E3-EF94-4D3F-9520-F8174BAD9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49306147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64B404B-54A9-4922-B767-72B7D0A5F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D02BA7-C0A3-42D8-B844-02BC8160E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Integrated AI System Overview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6A2DA9-A78F-44FE-9AAF-C838F28A6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7651441-0A50-480F-B931-1B4F407B3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CD4CDC-86B1-42BD-ABFE-6E382A69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Data workflow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EC6C8-B113-4F90-AB72-44D36CDAB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9C1BE8-B830-43B9-B0DE-E24A3CE7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624FD3-6F34-433D-8EF1-3FE68586B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Statistical 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5235ED-350C-40BE-8ACE-A5C672DC7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F1BF4E-654E-473D-A1D2-32CED579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3D0B2E-B1C5-4658-BBD9-E99154A4F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Supervised ML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99371D0-CE30-4909-A267-6C43EB3C0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11C801-7BE4-445C-9A7F-C03B1466E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8662DF6-1C5A-4B46-8894-8C4DF498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CNN visual model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D06E4B-DE78-4B42-BA13-19C32BFA1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2F283-0352-42A8-A71D-A2C0C1299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761F8E-66FA-4F0C-856E-9CB460292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VAE quality review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65F523-F98E-4D35-8908-851781B3E6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2419350"/>
            <a:ext cx="228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555555"/>
                </a:solidFill>
              </a:defRPr>
            </a:pPr>
            <a:r>
              <a:rPr sz="2250" b="1">
                <a:solidFill>
                  <a:srgbClr val="555555"/>
                </a:solidFill>
              </a:rPr>
              <a:t>&gt;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201676-B3EB-479B-8B90-1F644678E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2152650"/>
            <a:ext cx="15049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A"/>
          </a:solidFill>
          <a:ln xmlns:a="http://schemas.openxmlformats.org/drawingml/2006/main" w="19050">
            <a:solidFill>
              <a:srgbClr val="FF6B3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4399C-B427-4BB9-86EF-577E4770D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362200"/>
            <a:ext cx="1276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00000"/>
                </a:solidFill>
              </a:defRPr>
            </a:pPr>
            <a:r>
              <a:rPr sz="1500" b="1">
                <a:solidFill>
                  <a:srgbClr val="000000"/>
                </a:solidFill>
              </a:rPr>
              <a:t>Agentic routing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2095020-3563-486F-B93A-D1DB85D3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0477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000000"/>
                </a:solidFill>
              </a:defRPr>
            </a:pPr>
            <a:r>
              <a:rPr sz="1875" b="0">
                <a:solidFill>
                  <a:srgbClr val="000000"/>
                </a:solidFill>
              </a:rPr>
              <a:t>Data and model signals are combined only after quality checks. The final layer applies policy boundaries and sends uncertain or patient-facing cases to human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401FD1C-745E-4B6E-B5E2-A6456F68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914900"/>
            <a:ext cx="685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- Observable scenario outputs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- Component-level rationale</a:t>
            </a:r>
          </a:p>
          <a:p xmlns:a="http://schemas.openxmlformats.org/drawingml/2006/main">
            <a:pPr algn="l">
              <a:defRPr sz="1650" b="0">
                <a:solidFill>
                  <a:srgbClr val="000000"/>
                </a:solidFill>
              </a:defRPr>
            </a:pPr>
            <a:r>
              <a:rPr sz="1650" b="0">
                <a:solidFill>
                  <a:srgbClr val="000000"/>
                </a:solidFill>
              </a:rPr>
              <a:t>- Human approval for patient-facing cases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934307-A94D-452E-86ED-D5EC1E5B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D7716F-5BE1-4C41-9F8A-2D401BB06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79959125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291D42D-27FC-4921-A2F1-BEFEF9176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4C2A08-BF00-4C7C-8E0C-8A0B80EE6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Integration of Prior Projects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EA67F66-798E-42DA-93B6-DC87BE347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0" name=""/>
          <p:cNvGraphicFramePr/>
          <p:nvPr/>
        </p:nvGraphicFramePr>
        <p:xfrm>
          <a:off xmlns:a="http://schemas.openxmlformats.org/drawingml/2006/main" x="552450" y="1676400"/>
          <a:ext xmlns:a="http://schemas.openxmlformats.org/drawingml/2006/main" cx="10572750" cy="3619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762250"/>
                <a:gridCol w="3905250"/>
                <a:gridCol w="3905250"/>
              </a:tblGrid>
              <a:tr h="603250">
                <a:tc>
                  <a:txBody>
                    <a:bodyPr/>
                    <a:lstStyle/>
                    <a:p>
                      <a:r>
                        <a:t>Prior project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Contribution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Why it matters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Programming + statistics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Ingestion, cleaning, EDA, descriptive checks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Prevents downstream models from hiding weak data quality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Applied ML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Structured supervised risk scoring and class metrics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Adds predictive signal and measurable tradeoffs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Deep learning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CNN pattern for visual or scanned intake artifacts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Extends the system beyond tabular signals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Generative AI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VAE reconstruction and outlier-style quality review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Flags unusual examples before routing</a:t>
                      </a:r>
                    </a:p>
                  </a:txBody>
                  <a:tcPr marL="91440" marR="91440" marT="45720" marB="45720"/>
                </a:tc>
              </a:tr>
              <a:tr h="603250">
                <a:tc>
                  <a:txBody>
                    <a:bodyPr/>
                    <a:lstStyle/>
                    <a:p>
                      <a:r>
                        <a:t>Agentic workflow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Policy-aware reasoning, memory, tools, and fallback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Turns signals into bounded human-review decisions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B886C0-3E6A-4897-B697-6EE26C1C9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D089A2-7020-4AD9-B1A5-EDABADFAF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3204918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DA7EA9-9BFC-4D53-A36E-B940A3CEF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340710-01F5-48FD-ABD5-0947A328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Key Technical Decisions and Tradeoffs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3A1FEA-8086-4BC5-94AE-888D1385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7B1AB9-EE68-4F56-BA4B-9A2449ABA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95450"/>
            <a:ext cx="4953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E4E8F1-A508-48D6-BF51-1635F4D31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Decisions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C7E8A5-06E8-4D1C-9AE3-0C6061CA4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95550"/>
            <a:ext cx="4095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Deterministic routing for auditability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Class-specific metrics for asymmetric risk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Public benchmark data for reproducibility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Hard human gate for patient-facing cases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88072-D285-4C2E-AA67-D65217C3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695450"/>
            <a:ext cx="49530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809371-45C4-423D-A097-3907CAA9E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9621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Tradeoffs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71C47BB-80CC-4EFF-A3DE-83A8A09AD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495550"/>
            <a:ext cx="40957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Interpretable rules underfit complex interactions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Benchmarks are reproducible but not clinical validation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Generative outputs help inspection but can be overread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Agent logic is transparent but threshold-dependent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7D5F4-E68E-4BD1-9F6D-7E8947F9E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F89CC8-EE9B-451A-BB5A-5C66CD31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7975158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86C7CFB-A070-455D-94C4-726915E28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71A189-F72D-4A29-9FD5-F3B3CAF0C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Evaluation Results and System Behavior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05BE7E-53FB-4170-866F-B866BDE4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609600" y="1790700"/>
          <a:ext xmlns:a="http://schemas.openxmlformats.org/drawingml/2006/main" cx="6096000" cy="3257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51059f82ffd46cc"/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098E08-4F20-4FC7-8311-02A78394A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809750"/>
            <a:ext cx="2667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000000"/>
                </a:solidFill>
              </a:defRPr>
            </a:pPr>
            <a:r>
              <a:rPr sz="2100" b="1">
                <a:solidFill>
                  <a:srgbClr val="000000"/>
                </a:solidFill>
              </a:rPr>
              <a:t>Observed routing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D72596-ACBF-4CA1-B640-6BBDB5AE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381250"/>
            <a:ext cx="3733800" cy="1905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Standard cases stayed in the operations queue.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Low confidence and uncertainty escalated review.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Patient-facing cases required human approval.</a:t>
            </a:r>
          </a:p>
          <a:p xmlns:a="http://schemas.openxmlformats.org/drawingml/2006/main">
            <a:pPr algn="l">
              <a:defRPr sz="1575" b="0">
                <a:solidFill>
                  <a:srgbClr val="000000"/>
                </a:solidFill>
              </a:defRPr>
            </a:pPr>
            <a:r>
              <a:rPr sz="1575" b="0">
                <a:solidFill>
                  <a:srgbClr val="000000"/>
                </a:solidFill>
              </a:rPr>
              <a:t>- Combined high-risk signals triggered expedited review.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AE309F-90D5-45FF-B1BB-6DCC6CE7D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705350"/>
            <a:ext cx="352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555555"/>
                </a:solidFill>
              </a:defRPr>
            </a:pPr>
            <a:r>
              <a:rPr sz="1575" b="0">
                <a:solidFill>
                  <a:srgbClr val="555555"/>
                </a:solidFill>
              </a:rPr>
              <a:t>Evaluation is mixed: quantitative scenario scores plus qualitative failure-case review.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F1565-A2E1-4A3B-9E5D-60475CEF8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AB8D94-29C1-4282-AB08-9F2AB09DF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61094768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07C1652-F08A-4992-B1ED-062B04D7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F9C593-7B1F-4D8A-96A5-7295B5274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Ethical Considerations and Safeguards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75947E-E26A-45B6-ACE6-1116810DF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6B1963-7472-4746-A5DD-F9994BD4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750FA0-00C0-44EE-84E4-08C4C52F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859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Automation bias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07583C-E82B-4C90-845B-D57A43814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383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Show component signals and uncertainty before routing.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90857E-8466-438A-A1AD-0AEEA8BEC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860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889CF4-01CA-444C-8872-B6E248CD6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765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Unequal performance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801B5F-4D91-4696-9514-3A557CC5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289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Require future subgroup validation and monitoring.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244D212-3A6B-4531-8F19-7F5A761A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EC9FDC-D09E-493D-970C-B021E3425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671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Accountability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551770-1150-4FD0-BA88-43CD040B8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195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Keep patient-facing decisions under human approval.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F4488A-BEA3-4486-A8D6-EE4C487E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67250"/>
            <a:ext cx="2476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3C7959-F0C6-46D1-841A-F25DC9A2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577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000000"/>
                </a:solidFill>
              </a:defRPr>
            </a:pPr>
            <a:r>
              <a:rPr sz="1725" b="1">
                <a:solidFill>
                  <a:srgbClr val="000000"/>
                </a:solidFill>
              </a:rPr>
              <a:t>Transparency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D48485-17CD-475A-8F0F-B400C50C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10125"/>
            <a:ext cx="6762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Log tool observations and routing rationale.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5DDF23-A853-411C-B60C-40A7681BA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DEF890-6691-479B-BAB0-DF530DF87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32415116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4668001-3351-4E2B-9DA6-42977A48B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FDB7336-3BF6-449E-98F8-FC573618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Limitations, Failure Cases, and Risks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894A3F-CB89-4389-9FEE-96F458A78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0C038BA-7651-48CC-A15D-235EB9487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57350"/>
            <a:ext cx="971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000000"/>
                </a:solidFill>
              </a:defRPr>
            </a:pPr>
            <a:r>
              <a:rPr sz="2175" b="1">
                <a:solidFill>
                  <a:srgbClr val="000000"/>
                </a:solidFill>
              </a:rPr>
              <a:t>The prototype is intentionally bounded. It demonstrates integration and reasoning, not production readiness.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AB790F-8592-40AE-829D-462D83B9B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24150"/>
            <a:ext cx="327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7729AC-CC2D-4C40-B03C-BB7E64D84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718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Data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1067F-6B1A-4547-8C8C-5B958056E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861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Benchmark datasets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Limited population context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No clinical-site variation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831EB0-30E0-4513-BC7A-7FF7E149F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724150"/>
            <a:ext cx="327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126AA26-ECC8-4E1A-8BD9-11ED5DF3C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9718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Models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8A22E3-ED35-454E-BD60-43B42927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4861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Single split evaluation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Prototype thresholds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Potential distribution drift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4A0AA-2FED-4981-A047-F4E9BDB85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724150"/>
            <a:ext cx="3276600" cy="2324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DE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CCD8D2-2984-44D7-A29A-F739661C0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718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000000"/>
                </a:solidFill>
              </a:defRPr>
            </a:pPr>
            <a:r>
              <a:rPr sz="1950" b="1">
                <a:solidFill>
                  <a:srgbClr val="000000"/>
                </a:solidFill>
              </a:rPr>
              <a:t>Workflow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8A17AD8-2621-4953-BDA2-5A9FF148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3486150"/>
            <a:ext cx="24765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Structured inputs only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Human process dependency</a:t>
            </a:r>
          </a:p>
          <a:p xmlns:a="http://schemas.openxmlformats.org/drawingml/2006/main">
            <a:pPr algn="l">
              <a:defRPr sz="1500" b="0">
                <a:solidFill>
                  <a:srgbClr val="000000"/>
                </a:solidFill>
              </a:defRPr>
            </a:pPr>
            <a:r>
              <a:rPr sz="1500" b="0">
                <a:solidFill>
                  <a:srgbClr val="000000"/>
                </a:solidFill>
              </a:rPr>
              <a:t>- Requires governance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F2B12-9661-4733-B315-E445E645C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A9BB5-CF06-4E27-8B21-1D45FE8F8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62208399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F44EE02-A237-4FF5-901C-B3CA56CA9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4CE53E-4681-42B4-A624-B25A848E7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Professional Relevance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53BE93-4640-47C6-B464-997EE1CB6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E82BC8-71AA-4CB1-AB84-9030D6419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733550"/>
            <a:ext cx="8953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This capstone demonstrates the full path from data workflow to model evaluation to responsible system integration.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A5591C-693D-448E-9F01-7F2A6261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90850"/>
            <a:ext cx="8191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Reproducible notebooks and reports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Statistical reasoning and hypothesis testing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Supervised ML evaluation and interpretation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Deep learning and generative-model experimentation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Agentic workflow design with safety boundaries</a:t>
            </a:r>
          </a:p>
          <a:p xmlns:a="http://schemas.openxmlformats.org/drawingml/2006/main">
            <a:pPr algn="l">
              <a:defRPr sz="1725" b="0">
                <a:solidFill>
                  <a:srgbClr val="000000"/>
                </a:solidFill>
              </a:defRPr>
            </a:pPr>
            <a:r>
              <a:rPr sz="1725" b="0">
                <a:solidFill>
                  <a:srgbClr val="000000"/>
                </a:solidFill>
              </a:rPr>
              <a:t>- Communication for technical and non-technical audiences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3F0320-5CFF-42AE-891E-5B6BDCEF6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828800"/>
            <a:ext cx="14859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4F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246CEF-41F9-43E3-97F2-08D85C183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533650"/>
            <a:ext cx="1143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Ready to discuss</a:t>
            </a:r>
          </a:p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tradeoffs,</a:t>
            </a:r>
          </a:p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limits, and</a:t>
            </a:r>
          </a:p>
          <a:p xmlns:a="http://schemas.openxmlformats.org/drawingml/2006/main">
            <a:pPr algn="ctr">
              <a:defRPr sz="1800" b="1">
                <a:solidFill>
                  <a:srgbClr val="000000"/>
                </a:solidFill>
              </a:defRPr>
            </a:pPr>
            <a:r>
              <a:rPr sz="1800" b="1">
                <a:solidFill>
                  <a:srgbClr val="000000"/>
                </a:solidFill>
              </a:rPr>
              <a:t>next steps.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9ED0A5-542A-460F-98F5-F530E19CB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F96AD7-B9C4-4CD7-9631-5A45F5A02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67429709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1841E0A8-B317-4A78-8F58-EF417E03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86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Professional Industry Defense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1ABE1E-9B35-4E15-B431-9B16CB82D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52450"/>
            <a:ext cx="8572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000000"/>
                </a:solidFill>
              </a:defRPr>
            </a:pPr>
            <a:r>
              <a:rPr sz="3000" b="1">
                <a:solidFill>
                  <a:srgbClr val="000000"/>
                </a:solidFill>
              </a:rPr>
              <a:t>Next Steps and Defense Readiness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4677F0-EFFC-4D45-9E0E-14A834DD9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76350"/>
            <a:ext cx="11391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6152C5-1682-4705-84B8-69C72A7F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8763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00000"/>
                </a:solidFill>
              </a:defRPr>
            </a:pPr>
            <a:r>
              <a:rPr sz="2325" b="1">
                <a:solidFill>
                  <a:srgbClr val="000000"/>
                </a:solidFill>
              </a:rPr>
              <a:t>The next version should move from capstone prototype to governed validation workflow.</a:t>
            </a:r>
          </a:p>
        </p:txBody>
      </p:sp>
      <p:graphicFrame>
        <p:nvGraphicFramePr>
          <p:cNvPr id="13" name=""/>
          <p:cNvGraphicFramePr/>
          <p:nvPr/>
        </p:nvGraphicFramePr>
        <p:xfrm>
          <a:off xmlns:a="http://schemas.openxmlformats.org/drawingml/2006/main" x="685800" y="2781300"/>
          <a:ext xmlns:a="http://schemas.openxmlformats.org/drawingml/2006/main" cx="9886950" cy="2095500"/>
        </p:xfrm>
        <a:graphic xmlns:a="http://schemas.openxmlformats.org/drawingml/2006/main">
          <a:graphicData uri="http://schemas.openxmlformats.org/drawingml/2006/table">
            <a:tbl>
              <a:tblPr firstRow="1" bandRow="1"/>
              <a:tblGrid>
                <a:gridCol w="2857500"/>
                <a:gridCol w="7029450"/>
              </a:tblGrid>
              <a:tr h="419100">
                <a:tc>
                  <a:txBody>
                    <a:bodyPr/>
                    <a:lstStyle/>
                    <a:p>
                      <a:r>
                        <a:t>Improvement area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Next step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Validation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External data, repeated splits, calibration, and subgroup checks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Operations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Reviewer dashboard, feedback loops, and threshold review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Governance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Audit logs, access controls, risk acceptance, and monitoring</a:t>
                      </a:r>
                    </a:p>
                  </a:txBody>
                  <a:tcPr marL="91440" marR="91440" marT="45720" marB="45720"/>
                </a:tc>
              </a:tr>
              <a:tr h="419100">
                <a:tc>
                  <a:txBody>
                    <a:bodyPr/>
                    <a:lstStyle/>
                    <a:p>
                      <a:r>
                        <a:t>Modeling</a:t>
                      </a:r>
                    </a:p>
                  </a:txBody>
                  <a:tcPr marL="91440" marR="91440" marT="45720" marB="45720"/>
                </a:tc>
                <a:tc>
                  <a:txBody>
                    <a:bodyPr/>
                    <a:lstStyle/>
                    <a:p>
                      <a:r>
                        <a:t>Domain-specific imaging data and richer uncertainty handling</a:t>
                      </a:r>
                    </a:p>
                  </a:txBody>
                  <a:tcPr marL="91440" marR="91440" marT="45720" marB="45720"/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BC5D29-3C8D-4761-9491-5D358A523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55555"/>
                </a:solidFill>
              </a:defRPr>
            </a:pPr>
            <a:r>
              <a:rPr sz="1650" b="0">
                <a:solidFill>
                  <a:srgbClr val="555555"/>
                </a:solidFill>
              </a:rPr>
              <a:t>Defense focus: why these components were integrated, what the system can and cannot do, and how ethical risk shaped the design.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42208D-AB09-4D8A-9792-8776438E1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362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Sukh Sandhu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59E38-2E8D-475C-98A2-B67F094BC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62700"/>
            <a:ext cx="552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555555"/>
                </a:solidFill>
              </a:defRPr>
            </a:pPr>
            <a:r>
              <a:rPr sz="975" b="0">
                <a:solidFill>
                  <a:srgbClr val="555555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7037204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2026-06-25T22:00:52.9380000Z</dcterms:created>
  <dcterms:modified xsi:type="dcterms:W3CDTF">2026-06-25T22:00:52.9390000Z</dcterms:modified>
</coreProperties>
</file>