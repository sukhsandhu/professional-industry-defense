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e68cad1ece4745" /><Relationship Type="http://schemas.openxmlformats.org/officeDocument/2006/relationships/extended-properties" Target="/docProps/app.xml" Id="R01ea55e5d7614004" /><Relationship Type="http://schemas.openxmlformats.org/officeDocument/2006/relationships/officeDocument" Target="/ppt/presentation.xml" Id="Ra039b3bb1f59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1418c9add4c8e"/>
  </p:sldMasterIdLst>
  <p:notesMasterIdLst>
    <p:notesMasterId xmlns:r="http://schemas.openxmlformats.org/officeDocument/2006/relationships" r:id="Rb846170214e9408f"/>
  </p:notesMasterIdLst>
  <p:sldIdLst>
    <p:sldId xmlns:r="http://schemas.openxmlformats.org/officeDocument/2006/relationships" id="256" r:id="R391540bea32d4632"/>
    <p:sldId xmlns:r="http://schemas.openxmlformats.org/officeDocument/2006/relationships" id="257" r:id="R0cbfaa71e9a2406a"/>
    <p:sldId xmlns:r="http://schemas.openxmlformats.org/officeDocument/2006/relationships" id="258" r:id="Rf72f68c352dc46b7"/>
    <p:sldId xmlns:r="http://schemas.openxmlformats.org/officeDocument/2006/relationships" id="259" r:id="Rb301d1603b4d48e8"/>
    <p:sldId xmlns:r="http://schemas.openxmlformats.org/officeDocument/2006/relationships" id="260" r:id="R8d0c306f7fa04752"/>
    <p:sldId xmlns:r="http://schemas.openxmlformats.org/officeDocument/2006/relationships" id="261" r:id="Rdd8ea65911134cd2"/>
    <p:sldId xmlns:r="http://schemas.openxmlformats.org/officeDocument/2006/relationships" id="262" r:id="Rd4b95b3d4ce54251"/>
    <p:sldId xmlns:r="http://schemas.openxmlformats.org/officeDocument/2006/relationships" id="263" r:id="Rdbad323ae3f640a3"/>
    <p:sldId xmlns:r="http://schemas.openxmlformats.org/officeDocument/2006/relationships" id="264" r:id="R9b2d45ad2544446b"/>
    <p:sldId xmlns:r="http://schemas.openxmlformats.org/officeDocument/2006/relationships" id="265" r:id="R10fb9936d660482e"/>
    <p:sldId xmlns:r="http://schemas.openxmlformats.org/officeDocument/2006/relationships" id="266" r:id="R056bdf292a5b4379"/>
    <p:sldId xmlns:r="http://schemas.openxmlformats.org/officeDocument/2006/relationships" id="267" r:id="R7e320cfc13ce48cb"/>
    <p:sldId xmlns:r="http://schemas.openxmlformats.org/officeDocument/2006/relationships" id="268" r:id="R8b141b2414dd4ce5"/>
    <p:sldId xmlns:r="http://schemas.openxmlformats.org/officeDocument/2006/relationships" id="269" r:id="Rbe124d1e6c804049"/>
    <p:sldId xmlns:r="http://schemas.openxmlformats.org/officeDocument/2006/relationships" id="270" r:id="R3e5743e9ead3404b"/>
    <p:sldId xmlns:r="http://schemas.openxmlformats.org/officeDocument/2006/relationships" id="271" r:id="Rdd561a1f2dab4b16"/>
    <p:sldId xmlns:r="http://schemas.openxmlformats.org/officeDocument/2006/relationships" id="272" r:id="Rb94b4b80e4a84edb"/>
    <p:sldId xmlns:r="http://schemas.openxmlformats.org/officeDocument/2006/relationships" id="273" r:id="R1844cb93907f4f5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2abc3983094ede" /><Relationship Type="http://schemas.openxmlformats.org/officeDocument/2006/relationships/slideMaster" Target="/ppt/slideMasters/slideMaster1.xml" Id="R1b31418c9add4c8e" /><Relationship Type="http://schemas.openxmlformats.org/officeDocument/2006/relationships/notesMaster" Target="/ppt/notesMasters/notesMaster1.xml" Id="Rb846170214e9408f" /><Relationship Type="http://schemas.openxmlformats.org/officeDocument/2006/relationships/presProps" Target="/ppt/presProps.xml" Id="Rb739057be0c54e11" /><Relationship Type="http://schemas.openxmlformats.org/officeDocument/2006/relationships/tableStyles" Target="/ppt/tableStyles.xml" Id="Rbd406bf9c5254d03" /><Relationship Type="http://schemas.openxmlformats.org/officeDocument/2006/relationships/slide" Target="/ppt/slides/slide1.xml" Id="R391540bea32d4632" /><Relationship Type="http://schemas.openxmlformats.org/officeDocument/2006/relationships/slide" Target="/ppt/slides/slide2.xml" Id="R0cbfaa71e9a2406a" /><Relationship Type="http://schemas.openxmlformats.org/officeDocument/2006/relationships/slide" Target="/ppt/slides/slide3.xml" Id="Rf72f68c352dc46b7" /><Relationship Type="http://schemas.openxmlformats.org/officeDocument/2006/relationships/slide" Target="/ppt/slides/slide4.xml" Id="Rb301d1603b4d48e8" /><Relationship Type="http://schemas.openxmlformats.org/officeDocument/2006/relationships/slide" Target="/ppt/slides/slide5.xml" Id="R8d0c306f7fa04752" /><Relationship Type="http://schemas.openxmlformats.org/officeDocument/2006/relationships/slide" Target="/ppt/slides/slide6.xml" Id="Rdd8ea65911134cd2" /><Relationship Type="http://schemas.openxmlformats.org/officeDocument/2006/relationships/slide" Target="/ppt/slides/slide7.xml" Id="Rd4b95b3d4ce54251" /><Relationship Type="http://schemas.openxmlformats.org/officeDocument/2006/relationships/slide" Target="/ppt/slides/slide8.xml" Id="Rdbad323ae3f640a3" /><Relationship Type="http://schemas.openxmlformats.org/officeDocument/2006/relationships/slide" Target="/ppt/slides/slide9.xml" Id="R9b2d45ad2544446b" /><Relationship Type="http://schemas.openxmlformats.org/officeDocument/2006/relationships/slide" Target="/ppt/slides/slide10.xml" Id="R10fb9936d660482e" /><Relationship Type="http://schemas.openxmlformats.org/officeDocument/2006/relationships/slide" Target="/ppt/slides/slide11.xml" Id="R056bdf292a5b4379" /><Relationship Type="http://schemas.openxmlformats.org/officeDocument/2006/relationships/slide" Target="/ppt/slides/slide12.xml" Id="R7e320cfc13ce48cb" /><Relationship Type="http://schemas.openxmlformats.org/officeDocument/2006/relationships/slide" Target="/ppt/slides/slide13.xml" Id="R8b141b2414dd4ce5" /><Relationship Type="http://schemas.openxmlformats.org/officeDocument/2006/relationships/slide" Target="/ppt/slides/slide14.xml" Id="Rbe124d1e6c804049" /><Relationship Type="http://schemas.openxmlformats.org/officeDocument/2006/relationships/slide" Target="/ppt/slides/slide15.xml" Id="R3e5743e9ead3404b" /><Relationship Type="http://schemas.openxmlformats.org/officeDocument/2006/relationships/slide" Target="/ppt/slides/slide16.xml" Id="Rdd561a1f2dab4b16" /><Relationship Type="http://schemas.openxmlformats.org/officeDocument/2006/relationships/slide" Target="/ppt/slides/slide17.xml" Id="Rb94b4b80e4a84edb" /><Relationship Type="http://schemas.openxmlformats.org/officeDocument/2006/relationships/slide" Target="/ppt/slides/slide18.xml" Id="R1844cb93907f4f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7b313f518949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e6349abbb5493f" /><Relationship Type="http://schemas.openxmlformats.org/officeDocument/2006/relationships/notesMaster" Target="/ppt/notesMasters/notesMaster1.xml" Id="R2451a990112e46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4fc1f443a24cdb" /><Relationship Type="http://schemas.openxmlformats.org/officeDocument/2006/relationships/notesMaster" Target="/ppt/notesMasters/notesMaster1.xml" Id="R1249c007a51043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622ee3d0514322" /><Relationship Type="http://schemas.openxmlformats.org/officeDocument/2006/relationships/notesMaster" Target="/ppt/notesMasters/notesMaster1.xml" Id="R7e0584183b7147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14c3ee971f4ea2" /><Relationship Type="http://schemas.openxmlformats.org/officeDocument/2006/relationships/notesMaster" Target="/ppt/notesMasters/notesMaster1.xml" Id="R149b7cb4fbff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528e93e5da4617" /><Relationship Type="http://schemas.openxmlformats.org/officeDocument/2006/relationships/notesMaster" Target="/ppt/notesMasters/notesMaster1.xml" Id="R42f82d15824545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0243be81264c65" /><Relationship Type="http://schemas.openxmlformats.org/officeDocument/2006/relationships/notesMaster" Target="/ppt/notesMasters/notesMaster1.xml" Id="Rc5e55356968341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7d1c8c3cf249b4" /><Relationship Type="http://schemas.openxmlformats.org/officeDocument/2006/relationships/notesMaster" Target="/ppt/notesMasters/notesMaster1.xml" Id="R0a1f34fd6b3646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14f7ce5344545" /><Relationship Type="http://schemas.openxmlformats.org/officeDocument/2006/relationships/notesMaster" Target="/ppt/notesMasters/notesMaster1.xml" Id="R39ae031e3e2b41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0d133231ba44d6" /><Relationship Type="http://schemas.openxmlformats.org/officeDocument/2006/relationships/notesMaster" Target="/ppt/notesMasters/notesMaster1.xml" Id="R0fd8ea42cb6b44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7910359ceb47f2" /><Relationship Type="http://schemas.openxmlformats.org/officeDocument/2006/relationships/notesMaster" Target="/ppt/notesMasters/notesMaster1.xml" Id="R766707fee01f4f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89ab0f84e74d07" /><Relationship Type="http://schemas.openxmlformats.org/officeDocument/2006/relationships/notesMaster" Target="/ppt/notesMasters/notesMaster1.xml" Id="Rb526d4cd6f724e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53d20cfdc14521" /><Relationship Type="http://schemas.openxmlformats.org/officeDocument/2006/relationships/notesMaster" Target="/ppt/notesMasters/notesMaster1.xml" Id="R47fb618cfc0842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198024ecda943b7" /><Relationship Type="http://schemas.openxmlformats.org/officeDocument/2006/relationships/notesMaster" Target="/ppt/notesMasters/notesMaster1.xml" Id="Rfbee7789644c41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23d32e86884b13" /><Relationship Type="http://schemas.openxmlformats.org/officeDocument/2006/relationships/notesMaster" Target="/ppt/notesMasters/notesMaster1.xml" Id="R3e13fe18acc143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69ba9d5cc94bd7" /><Relationship Type="http://schemas.openxmlformats.org/officeDocument/2006/relationships/notesMaster" Target="/ppt/notesMasters/notesMaster1.xml" Id="R3c881b2b430c411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32ac2b0b3c4436" /><Relationship Type="http://schemas.openxmlformats.org/officeDocument/2006/relationships/notesMaster" Target="/ppt/notesMasters/notesMaster1.xml" Id="R48411c86afb841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3930432b97c4bfc" /><Relationship Type="http://schemas.openxmlformats.org/officeDocument/2006/relationships/notesMaster" Target="/ppt/notesMasters/notesMaster1.xml" Id="R9a3b15fc066d46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03b9d209a849ae" /><Relationship Type="http://schemas.openxmlformats.org/officeDocument/2006/relationships/notesMaster" Target="/ppt/notesMasters/notesMaster1.xml" Id="R30e7600010d942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calmly. Say that this is an operations-support system for healthcare case routing, not a diagnostic product. State that the goal of the defense is to show how multiple AI methods can be combined responsibly into a supervised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audience that the presentation is organized around Udacity's expected defense structure: context, system, integration, decisions, evaluation, ethics, limitations, and readiness. This gives the mentor confidence that nothing important is being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non-technical. A useful explanation is: this project helps decide which queue a case should go to, not what medical decision should be made. Emphasize that operations support is a safer and more realistic early use case than autonomous clinical decision-making.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simple example: if a case has missing fields, low confidence, and an uncertain scan, it should not move through a normal queue. The project turns those signals into a transparent routing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high-level architecture slide. Do not over-explain the algorithms yet. The message is that each layer performs a limited job, and the final routing decision depends on combined evidence plus safety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you make the code understandable. Say that the code is not a mysterious black box here. It adds transparent signals together and applies simple routing thresholds.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central to the Udacity synthesis requirement. Explain that the prior projects are not separate files sitting beside each other. They become roles inside one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defense line if asked why the project is not more clinically powerful. The answer is that a capstone prototype should show responsible system design, not overclaim medical deployment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all four cases. SYN-003 is especially important because the risk score is moderate, but the patient-facing flag forces human approval. That shows the safety boundary is stronger than the numeric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this as a validated clinical scoring algorithm. Present it as a transparent prototype rule for demonstrating integrated AI workflow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sound grounded. Name each risk, then name the design response. Avoid generic phrases such as AI should be ethical; instead, tie ethics to exact system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a weakness slide if delivered well. It shows professional judgment. Say that responsible AI work includes knowing the deployment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for auditors and non-technical reviewers. Explain that GitHub is the public filing cabinet for the code, while the zip is the file package submitted to Udacity.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bridges the defense and the auditor documentation. It tells a non-technical reviewer exactly what each artifact is for.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rehearsal slide. If the mentor asks a hard question, do not defend everything blindly. Use the answer pattern shown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designed for a complete layperson. It turns the review into a checklist rather than assuming they understand Udacity, AI, GitHub, or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file map is mainly for a lay auditor or for you when uploading materials. It distinguishes the presentation, the discussion guide, the auditor guide, and the actual zip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confidence. Say that the project demonstrates readiness because it combines technical implementation, synthesis across projects, ethical reasoning, and clear stakeholder communication.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0cb4a2fd9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165c5755644ed" /><Relationship Type="http://schemas.openxmlformats.org/officeDocument/2006/relationships/slideLayout" Target="/ppt/slideLayouts/slideLayout1.xml" Id="R105ea7b521d348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ea7b521d348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f8e76d66444f5" /><Relationship Type="http://schemas.openxmlformats.org/officeDocument/2006/relationships/notesSlide" Target="/ppt/notesSlides/notesSlide1.xml" Id="R990a5ba5778c48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6c9e930fb451f" /><Relationship Type="http://schemas.openxmlformats.org/officeDocument/2006/relationships/notesSlide" Target="/ppt/notesSlides/notesSlide2.xml" Id="R6045385c7c4448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0e2ad75224dc4" /><Relationship Type="http://schemas.openxmlformats.org/officeDocument/2006/relationships/notesSlide" Target="/ppt/notesSlides/notesSlide3.xml" Id="R1c5759a403ef46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be0cd0857447f" /><Relationship Type="http://schemas.openxmlformats.org/officeDocument/2006/relationships/notesSlide" Target="/ppt/notesSlides/notesSlide4.xml" Id="R9bc3f4548eec4d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ae3a44e7b4354" /><Relationship Type="http://schemas.openxmlformats.org/officeDocument/2006/relationships/notesSlide" Target="/ppt/notesSlides/notesSlide5.xml" Id="R3a552f5dc1df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3708b0e174ec0" /><Relationship Type="http://schemas.openxmlformats.org/officeDocument/2006/relationships/notesSlide" Target="/ppt/notesSlides/notesSlide6.xml" Id="R7e65681d37e7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9b33b786840f1" /><Relationship Type="http://schemas.openxmlformats.org/officeDocument/2006/relationships/notesSlide" Target="/ppt/notesSlides/notesSlide7.xml" Id="R34f73dacd03543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c72d15f444224" /><Relationship Type="http://schemas.openxmlformats.org/officeDocument/2006/relationships/notesSlide" Target="/ppt/notesSlides/notesSlide8.xml" Id="R1a8eaed571234a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2249bb4545b9" /><Relationship Type="http://schemas.openxmlformats.org/officeDocument/2006/relationships/chart" Target="/ppt/slides/charts/chart1.xml" Id="R12bd76dbc7ff4f73" /><Relationship Type="http://schemas.openxmlformats.org/officeDocument/2006/relationships/notesSlide" Target="/ppt/notesSlides/notesSlide9.xml" Id="Ra851de1b4cc849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c76c0ef1840e4" /><Relationship Type="http://schemas.openxmlformats.org/officeDocument/2006/relationships/notesSlide" Target="/ppt/notesSlides/notesSlide10.xml" Id="R5c961cf7fb8049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344e22dea41de" /><Relationship Type="http://schemas.openxmlformats.org/officeDocument/2006/relationships/notesSlide" Target="/ppt/notesSlides/notesSlide11.xml" Id="R29dff38256a746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7c0ede67a491b" /><Relationship Type="http://schemas.openxmlformats.org/officeDocument/2006/relationships/notesSlide" Target="/ppt/notesSlides/notesSlide12.xml" Id="R04a05cece97b4e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0c6a7de7d424a" /><Relationship Type="http://schemas.openxmlformats.org/officeDocument/2006/relationships/notesSlide" Target="/ppt/notesSlides/notesSlide13.xml" Id="R74f97c3d532244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bc48ccc224aa4" /><Relationship Type="http://schemas.openxmlformats.org/officeDocument/2006/relationships/notesSlide" Target="/ppt/notesSlides/notesSlide14.xml" Id="Rf6204338b96b46f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5e48f9a674aa8" /><Relationship Type="http://schemas.openxmlformats.org/officeDocument/2006/relationships/notesSlide" Target="/ppt/notesSlides/notesSlide15.xml" Id="R35d88cb5ef6f47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9f5b33e3c4b54" /><Relationship Type="http://schemas.openxmlformats.org/officeDocument/2006/relationships/notesSlide" Target="/ppt/notesSlides/notesSlide16.xml" Id="R2ab632ab13654a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7338ac82740dc" /><Relationship Type="http://schemas.openxmlformats.org/officeDocument/2006/relationships/notesSlide" Target="/ppt/notesSlides/notesSlide17.xml" Id="Rd875cc5c961a4b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3340b8dfb45ff" /><Relationship Type="http://schemas.openxmlformats.org/officeDocument/2006/relationships/notesSlide" Target="/ppt/notesSlides/notesSlide18.xml" Id="R740c691e792546d9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Integrated risk score</c:v>
          </c:tx>
          <c:spPr>
            <a:solidFill xmlns:a="http://schemas.openxmlformats.org/drawingml/2006/main">
              <a:srgbClr val="0B5CA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SYN-001</c:v>
              </c:pt>
              <c:pt idx="1">
                <c:v>SYN-002</c:v>
              </c:pt>
              <c:pt idx="2">
                <c:v>SYN-003</c:v>
              </c:pt>
              <c:pt idx="3">
                <c:v>SYN-004</c:v>
              </c:pt>
            </c:strLit>
          </c:cat>
          <c:val>
            <c:numLit>
              <c:formatCode>General</c:formatCode>
              <c:ptCount val="4"/>
              <c:pt idx="0">
                <c:v>0.12</c:v>
              </c:pt>
              <c:pt idx="1">
                <c:v>0.62</c:v>
              </c:pt>
              <c:pt idx="2">
                <c:v>0.34</c:v>
              </c:pt>
              <c:pt idx="3">
                <c:v>0.98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89E24C-8D3D-43E4-A7EF-BBDA2E29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Professional Industry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4121D-2B7A-45FD-8A95-0FA9F982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Integrated Healthcare AI Operations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76414-5710-4E24-9F82-8A0D1B4E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D53C1-7C2F-4744-AAD3-85AD2A52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Prepared for Udacity AI Capstone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C2E9E-7C9F-4CB2-ADFD-6842012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This deck explains the industry problem, the system design, how prior capstone projects were integrated, how the prototype was evaluated, and how to defend the ethical and technical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168C7-0E16-43CF-8590-F1BC5F1A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ABAD0-76FC-4126-B8EE-690216BD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2676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A45806-ECD1-4781-ADA0-C074890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DEFENSE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E3C36-5B01-4727-AF1C-3E4096C2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the defense must prove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4407C-A6A8-4EBA-B3A4-E2FA46E1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B4E6-AF3D-4836-8857-44E4A2A0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E5BAB-249A-4C53-89C0-A5E45030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The industry problem is real and meaningful.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The integrated AI system is technically coherent.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At least three prior projects are synthesized, not merely listed.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Evaluation evidence shows how the system behaves.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Ethical risks are specific and connected to safeguards.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Limitations and next steps are honest and professional.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B03F2-F120-4D3B-9916-4445D787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14325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94684-4312-4C64-BB8F-83C7280A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52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4F8EA-6829-4B4C-9FEA-2DB03CA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F43F1-C1A5-406F-B07F-243B630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28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about 10 minutes for explanation, 3 minutes for evidence and limitations, and 2 minutes for transition into mentor questions.</a:t>
            </a:r>
          </a:p>
        </p:txBody>
      </p:sp>
    </p:spTree>
    <p:extLst>
      <p:ext uri="{BB962C8B-B14F-4D97-AF65-F5344CB8AC3E}">
        <p14:creationId xmlns:p14="http://schemas.microsoft.com/office/powerpoint/2010/main" val="472795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E4710-F10D-4C2A-AB1A-F9818241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PROBLEM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FB4DA-8299-462A-835B-F471DC5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Industry context: healthcare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008B6-F669-4D15-8FCD-5AF39D69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BAE7C-A5F3-48EE-BF37-6F7C4EF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1FCA5-027A-40A9-A551-3859DAD3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selected industry is healthcare operations, specifically the back-office workflow where cases are reviewed, prioritized, and routed before a human makes final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C6584-26DD-43E5-BF3B-3C657D31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953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5445A-3138-4BC1-AA5F-D05E6A6F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67631-E442-4B01-A873-6926D773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670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Operational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96133-B6AD-4A04-8423-0B3979E2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Teams handle incomplete forms, mixed-quality data, scanned artifacts, and time-sensitive queues.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F5557-9B87-4809-8D54-ED843CD4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4953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C06AA-19B8-4B44-8316-3D819A1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7ECA7-CABC-4F4C-A322-4511DB1D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670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Decision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8F43B-5D41-42D6-98B5-6AA66768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 case routed too slowly can delay service; a case routed too aggressively can waste specialist attention.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8AE78-7CD1-4307-BCEB-FCEEC9F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87D12-9635-420E-9440-44BAC18A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54A72-52E3-49C8-A1B9-8ED9A143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053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AI opportunity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43999-911F-4F9F-9ED1-125CB62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AI can summarize signals and route work, but only if boundaries and human oversight are explicit.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8D83E-9D5C-4190-92D5-25C566F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49530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2640D-9FD3-452B-A957-38378BE6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B9D2D-8F08-4FEA-99B3-BFFCB33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053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Project 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3FABC-6B52-4D69-B7A3-AF62330C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system supports internal triage. It does not diagnose, treat, or finalize patient-facing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74214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D65D6-80B5-4807-A89F-DB3864F4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PROBLEM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A6659-323A-458A-AB92-D209A246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plain-English workflow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02DCE-96F1-4BD5-BE9E-C65111E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94519-79AC-4B55-AB82-76BA92A6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AE024-7B32-4820-9DBE-D1CFA1D2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D4260-D922-4F6F-B093-CD828B0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Before the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35FAC-56B9-4602-89B9-7ED99C91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 case arrives with structured fields and sometimes visual/scanned material.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Some fields may be missing or unreliable.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 model may provide a useful signal but not a final answer.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 reviewer still needs to know what should happen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39470-DB4F-4444-BF29-9A0D761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762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D834D-1DBD-4C0F-872D-7C10B525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After the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F7BAE-9283-4343-B770-8E968506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400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The case is checked for data quality.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Model confidence and visual uncertainty are considered.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Outlier flags raise caution.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Patient-facing or high-risk cases are kept for human approval.</a:t>
            </a:r>
          </a:p>
        </p:txBody>
      </p:sp>
    </p:spTree>
    <p:extLst>
      <p:ext uri="{BB962C8B-B14F-4D97-AF65-F5344CB8AC3E}">
        <p14:creationId xmlns:p14="http://schemas.microsoft.com/office/powerpoint/2010/main" val="1598289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7B99D5-AC0F-4E03-8ABA-947FBC1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2E446-31D8-4B72-90DE-147667AF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Integrated 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3712A-905A-4D4A-8A57-FA80B40B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BA105-39BA-4056-A463-3C776ABB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AB795-0800-4937-B091-6904F4B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8BE07-D6A1-41C7-8CAD-FFCFDB8E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BFF9A-1023-4C37-8F3A-3B1B834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7AA78-5A85-4BFC-8D4F-A70AC34E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526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Load, validate, and clean structured operational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B4C9C-85D3-4FC1-80B1-141CB600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43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0D6F1-3C59-4EE3-AEC6-06FB3CCB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DA8A2-FDCC-47CA-83A3-68E44D99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335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Statistical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C40C1-CD8F-46BA-BE1E-2F9A8A95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526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Summarize distributions and flag data-quality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9F92B-4B3C-493C-9C0B-074DEB7E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4305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5742C-2982-42D6-BC1D-CBF12E7C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33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7F71B8-8487-4B4A-AFE6-B249846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3355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Supervised 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89F89-2A9E-49C8-ABDD-71EEB87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Estimate risk or confidence from validated tabular signals.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A0A79-6AFD-4AF7-9410-E12165AA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47F12E-CB83-4113-BCFC-62C5F658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AF4A3-33E5-4985-8704-DAF216F6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Deep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9F38FE-774D-4C97-8C83-BB0C6AA6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Classify relevant visual/scanned artifacts when available.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53186-37CA-4003-A75C-B5C55FF6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3085E-546A-4313-AF81-480AEAAD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8301A2-5958-4B89-83F8-BE1F23AA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Generative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98F638-D73A-46A0-A79D-6563AB90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 reconstruction/outlier behavior as a quality-review signal.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B4EBE-380F-4878-852A-E0B2339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38500"/>
            <a:ext cx="342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62AB70-5E5F-4E1C-B3E8-B8E429C1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3D04E-8343-461A-B272-6D5E7B45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Agentic routing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0992E6-C7CD-4178-AAE2-9E570AD0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481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Apply thresholds, safeguards, memory, and human-review boundaries.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6BB4E-AAE3-4C40-AB64-F0801E64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system is designed as a supervised decision-support pipeline: each AI component contributes evidence, then the agentic layer routes the case while preserving human authority.</a:t>
            </a:r>
          </a:p>
        </p:txBody>
      </p:sp>
    </p:spTree>
    <p:extLst>
      <p:ext uri="{BB962C8B-B14F-4D97-AF65-F5344CB8AC3E}">
        <p14:creationId xmlns:p14="http://schemas.microsoft.com/office/powerpoint/2010/main" val="1222924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7F2D07-4396-46D2-8F06-4E9448B8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9C17-C6DB-4B34-BF63-CEB1391C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one case moves through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7FE14-AE85-4A95-9141-DC63FEFC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31129-7E60-4FF8-8749-CC2DB6C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ABD1-B30B-442B-8258-EF4C8F7F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A7315-9827-4C98-9181-D8A30BA7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21588-0544-4147-829D-6050F02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76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13291-BDF4-4B05-A580-A7F141CD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 case contains fields such as risk score, model confidence, missing fields, image status, and whether the decision is patient-facing.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A0833-96EC-426A-91D3-202A6CB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8590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47772-4F7B-4657-8986-5887022F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A1CE5-B389-4839-9023-4D83B3B2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6AF9D-5108-4931-BFB8-0247025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Data quality, confidence gaps, visual uncertainty, and generative outlier flags add to an integrated risk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6457A4-D1BB-474F-BAAD-3D4BBE1C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27A5F-15E0-452E-88B3-A3B50096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855C6-37A5-432B-86B1-3C234E47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Safety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D6784-694C-416A-86F4-D2F30364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Patient-facing cases automatically require human approval, regardless of 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384D20-8986-4D7B-BC3F-D3908106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0040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761C9-2D7A-4A74-A94C-25B863E0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59B47-C74A-4536-995C-D7D8399C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909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Routing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0618C7-AAD2-4C94-A1E5-00D57140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848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system returns one of four outcomes: standard queue, data quality review, human approval required, or expedited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7B4C9-5572-47FA-8B52-C831383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Plain-language formula: risk rises when data are poor, model confidence is weak, images are uncertain, or outlier signals appear.</a:t>
            </a:r>
          </a:p>
        </p:txBody>
      </p:sp>
    </p:spTree>
    <p:extLst>
      <p:ext uri="{BB962C8B-B14F-4D97-AF65-F5344CB8AC3E}">
        <p14:creationId xmlns:p14="http://schemas.microsoft.com/office/powerpoint/2010/main" val="2029536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8F65B4-B4AE-4269-94C1-8D0A6A24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994A0-023E-4C02-A97A-9B19170D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Prior capstone projects integrated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AE8F-34AB-422E-9837-9CC05CFE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55C60-A95F-4D93-98BF-E11B1DD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95300" y="1466850"/>
          <a:ext xmlns:a="http://schemas.openxmlformats.org/drawingml/2006/main" cx="11201400" cy="3733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66950"/>
                <a:gridCol w="3014031"/>
                <a:gridCol w="3229319"/>
                <a:gridCol w="2691099"/>
              </a:tblGrid>
              <a:tr h="5334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Prior project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What it contributed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How it appears here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Why it matters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Data workflow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Clean loading and reproducibility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Input validation and included data files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Prevents unreliable downstream decisions</a:t>
                      </a:r>
                    </a:p>
                  </a:txBody>
                  <a:tcPr marL="76200" marR="76200" marT="47625" marB="47625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Statistics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Distribution checks and hypothesis reasoning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Data-quality risk and explanation of uncertainty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Keeps interpretation grounded</a:t>
                      </a:r>
                    </a:p>
                  </a:txBody>
                  <a:tcPr marL="76200" marR="76200" marT="47625" marB="47625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Applied ML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Risk/confidence modeling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Supervised confidence signal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Adds predictive evidence</a:t>
                      </a:r>
                    </a:p>
                  </a:txBody>
                  <a:tcPr marL="76200" marR="76200" marT="47625" marB="47625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Deep learning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Visual classification workflow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Confident or uncertain scanned-artifact status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Handles non-tabular evidence</a:t>
                      </a:r>
                    </a:p>
                  </a:txBody>
                  <a:tcPr marL="76200" marR="76200" marT="47625" marB="47625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Generative AI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Reconstruction/outlier thinking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In-distribution or outlier quality flag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Adds caution signal</a:t>
                      </a:r>
                    </a:p>
                  </a:txBody>
                  <a:tcPr marL="76200" marR="76200" marT="47625" marB="47625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Agentic AI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Decision loop, tools, memory, fallbacks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Routing layer with human-review safeguards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Turns evidence into accountable action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803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FFB20-7178-4063-BCEE-29A8829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TECHNICAL DEFENSE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F8B84-2FFA-4A6F-AAD1-B1FBB2E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 technical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D3B8F-1499-45A2-B235-5A240971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F2D66-432C-419C-8400-7A0DAD2F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FFD41-43C6-4D2D-946F-D064AD18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9FFB1-2607-4EAB-8305-7261A24B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8BBD1-9A7D-4AD2-B659-B703CA1A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Interpretable routing over autonomous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031BE-BB55-4C0B-B576-11F24FA1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workflow produces a queue decision, not a final patient outcome.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224C9-2FF6-4496-BE97-4300F814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668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4E6BC-A44A-40B9-B733-F081626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3D89A-15B9-4CF7-98F3-017CB76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Thresholds over hidden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1C819-C1D8-4C7E-8ABF-691B6664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risk score and boundaries are visible, explainable, and adjustable.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2D3F2-1A68-42EF-A2AC-A4417EF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8371B-D875-4A14-B5AE-6DA3CD23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D303D-F3C4-4818-A850-6AF401C1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480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Public benchmark-style data for reproducibility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59248-B734-402D-B8C6-E0F48C64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671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prototype can be rerun and inspected without private clinical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77C01-C8AD-49EC-BCB8-F04BA002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68F79-E831-425A-9312-9F5BA328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2F7C5-8850-4096-85F1-5B194FB9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Human approval for patient-facing contexts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955416-1B89-4345-9C67-7207E74B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design limits automation where consequences are higher.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44209C-6C6B-401E-8F51-D530FDB5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rPr>
              <a:t>Defense line: I optimized for accountable workflow design, not for claiming production clinical validity.</a:t>
            </a:r>
          </a:p>
        </p:txBody>
      </p:sp>
    </p:spTree>
    <p:extLst>
      <p:ext uri="{BB962C8B-B14F-4D97-AF65-F5344CB8AC3E}">
        <p14:creationId xmlns:p14="http://schemas.microsoft.com/office/powerpoint/2010/main" val="18058650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2C4D7-089C-4299-BEB1-C18451E7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02E1D-4E57-40DA-B257-0795FC3F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Scenario evaluation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2C7D3-71CD-4F85-B42C-D40480F1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8FB65-9F0B-46FA-A3F9-45202CE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8650" y="163830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bd76dbc7ff4f7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67673-2FE2-430D-AA67-68935F4B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1BF08-4831-4E74-9103-6FB87D8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0.12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F97F3-4F76-44F6-A631-B854F208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Standard operations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3EB9F-C4A1-45E9-AE39-6C1AAA46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38116-E0ED-4CEA-A55D-6BB40B2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7A5A00"/>
                </a:solidFill>
                <a:latin typeface="Helvetica Neue"/>
                <a:ea typeface="Helvetica Neue"/>
                <a:cs typeface="Helvetica Neue"/>
              </a:rPr>
              <a:t>0.62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7B61E-AC05-414F-BC99-FF46F925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Data quality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2F4E1-06F2-442D-B609-5CEB5EBC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5603A-E502-4617-8F52-BE27776D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rPr>
              <a:t>0.34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382A7-CF67-4E04-B8A7-00975987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Human approval required due to safety 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1E683-702D-4F1C-BD64-4A29517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101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0F42E-F64D-49BB-9CA4-D3A7888E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625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rPr>
              <a:t>0.98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2FE1C-5BBB-4B0A-B323-25D9C1D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00700"/>
            <a:ext cx="2495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Expedited review</a:t>
            </a:r>
          </a:p>
        </p:txBody>
      </p:sp>
    </p:spTree>
    <p:extLst>
      <p:ext uri="{BB962C8B-B14F-4D97-AF65-F5344CB8AC3E}">
        <p14:creationId xmlns:p14="http://schemas.microsoft.com/office/powerpoint/2010/main" val="1016258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6F7F4-2855-4FC0-87D2-321CBADD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04679-44ED-441F-BD9C-07AC38E6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Decision rules are transparent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CFCDA-A120-437D-BF7A-C4DB15BA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E6E64-2471-4064-B8A8-80AAE4D9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D0E00-7B74-42A1-98EC-DAE8E05B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477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1DA63-3E6D-40B6-A75E-CB5E25E2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Integrated risk score starts with data-quality risk, then increases when model confidence is below 0.72, when image status is uncertain, and when the generative quality flag is an outlier.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F10D6-6977-497F-9DAF-BB1D457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Routing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43C7D-2D84-43E4-9737-7D7D4569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If patient-facing: human approval required.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If score is 0.70 or higher: expedited review.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If score is 0.40 to 0.69: data quality review.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Otherwise: standard operations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FCDE6-384D-45DF-9E7F-1F8F3B63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This makes the prototype auditable: a reviewer can see why each decision was produced.</a:t>
            </a:r>
          </a:p>
        </p:txBody>
      </p:sp>
    </p:spTree>
    <p:extLst>
      <p:ext uri="{BB962C8B-B14F-4D97-AF65-F5344CB8AC3E}">
        <p14:creationId xmlns:p14="http://schemas.microsoft.com/office/powerpoint/2010/main" val="10565326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83E7A1-57F3-4BD5-97F9-ECEC5B8D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RESPONSIBLE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9EE38-49B0-4401-8F36-628391E6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Ethical risks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705DB-41E6-483F-BE71-C400556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A641-2845-4110-B8A8-4D5130B3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2E218-3816-4A7E-9037-57C718EE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E3839-A2EE-4C78-A4E1-F511236A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F0315-EF23-4045-9098-50E9770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76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Automation bias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6E84E-A6BF-4F20-8296-57B2E9F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95500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Risk: people may trust the system too much. Safeguard: keep outputs as routing recommendations and preserve human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A19A-ECA6-4088-9570-DCB282E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85900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73811-03CF-444C-AD31-9BBE0F7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76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75A9C-6F96-4CF2-B9B5-DC11D413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Data bias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FA368-4F0E-4DAC-BD38-BC7B064C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Risk: missing or uneven data can affect groups differently. Safeguard: data-quality flags and fairness checks before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70AE1-984A-4E6F-BC23-4BFA2E7A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865A1-38C1-4D38-B8A6-B1E66D3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8AC1A-F4DE-4277-9C8A-910C3728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Transparency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32922-DD77-4CD1-AD51-6F4DA5CA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86200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Risk: black-box behavior reduces accountability. Safeguard: expose component signals and decision traces.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B4726-3E13-49D7-B1F5-EB1256AA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4953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847D2-ED19-4D9F-9629-C602B39C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E18FF-D807-45B1-82D0-4830D9CE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Clinical safety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2432B-11A3-45A5-90DD-C4872582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3848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Risk: operational tools could be mistaken for medical advice. Safeguard: hard boundary against automated patient-facing decisions.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AAB28-1AD7-4C9E-A291-DF05D994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9B1C1C"/>
                </a:solidFill>
                <a:latin typeface="Helvetica Neue"/>
                <a:ea typeface="Helvetica Neue"/>
                <a:cs typeface="Helvetica Neue"/>
              </a:rPr>
              <a:t>Ethical reasoning is built into the design, not added after the fact.</a:t>
            </a:r>
          </a:p>
        </p:txBody>
      </p:sp>
    </p:spTree>
    <p:extLst>
      <p:ext uri="{BB962C8B-B14F-4D97-AF65-F5344CB8AC3E}">
        <p14:creationId xmlns:p14="http://schemas.microsoft.com/office/powerpoint/2010/main" val="7041193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48B74-131E-40F6-9B16-D3456E96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2E3A1-ECB0-41E6-BB41-2256ECBC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Limitations and failure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17A2C-7E87-4B48-819D-02AA6ACB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FDD59-43AF-4EAD-8E64-B63B305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1C189-8F73-458D-8AF7-7304152E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239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The prototype uses benchmark-style evidence, not real hospital production data.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Thresholds are illustrative and would require domain calibration.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The system has not been clinically validated.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Deep-learning and generative signals are simplified for capstone demonstration.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A real deployment would require security review, privacy controls, audit logging, monitoring, and stakeholder sign-off.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DEE39-CF8A-40C3-B7E2-2F60987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6BD08-109E-47CB-9DD1-D6EB3B9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defense posture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54390-E6DA-4415-AAEA-240A72B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 honest. A strong AI professional knows what the system does and what it does not yet prove.</a:t>
            </a:r>
          </a:p>
        </p:txBody>
      </p:sp>
    </p:spTree>
    <p:extLst>
      <p:ext uri="{BB962C8B-B14F-4D97-AF65-F5344CB8AC3E}">
        <p14:creationId xmlns:p14="http://schemas.microsoft.com/office/powerpoint/2010/main" val="524384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53D47-B4E2-4D27-84A3-2A85B9AC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CB3A6-7599-44BD-9315-9D079C3C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How the code was created and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4686C-791A-43DD-9F2C-AA1939B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A788-8823-40AB-BB66-8B360BC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8AD20-E45E-4DB9-8119-51187A3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8415B-D77C-4341-BAA1-B284C499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0D78-2074-4E56-B333-E67CCBF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002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Create project folders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C2917-0026-4F6C-B366-1ADFDF39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193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Each Udacity project has its own folder, README, requirements file, artifacts, and repository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3EC04-603B-4771-9885-59D331A2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45B4DD-3A37-46D3-B8EE-1808181B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7FA81-042A-422F-8AF0-46287DD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Write the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EDD0E-7FEF-4305-BFFD-31BCC44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Python scripts and notebooks implement data loading, modeling, evaluation, and routing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0515EE-D527-4088-9B83-5B742498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DD379-B2DD-4C69-A821-E39E7248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4D077-1F90-4391-ADEC-5EF005A7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00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Run and save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9F610-DB62-42E3-8D5D-6585E0D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19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integrated system writes scenario results to JSON so the evidence is inspectable.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C1AE88-5BB4-4A5E-AC3C-F665BF77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14FE7-DC3A-42C3-8440-DBD47754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CD9515-8CC1-4686-80D3-A56D864D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Package and publish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4C68A-6D2D-4BFA-AEE8-0B6960AB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final files are zipped for Udacity and public GitHub repositories preserve the code history.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21042-4AD7-4197-9368-3125235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Auditor view: the submission can be checked by opening the zip, reading the README, inspecting the reports, and rerunning the script if Python is available.</a:t>
            </a:r>
          </a:p>
        </p:txBody>
      </p:sp>
    </p:spTree>
    <p:extLst>
      <p:ext uri="{BB962C8B-B14F-4D97-AF65-F5344CB8AC3E}">
        <p14:creationId xmlns:p14="http://schemas.microsoft.com/office/powerpoint/2010/main" val="220611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FD5B13-7D7C-4D4A-9653-58B252A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0A73B-0D5A-4D56-BDA9-5848D76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and reproducibility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10F3-5423-4592-861E-6FCF9B5E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87946-8225-4C32-BABD-64AB946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4775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4427220"/>
                <a:gridCol w="3478530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Evidence type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What the reviewer opens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What it proves</a:t>
                      </a:r>
                    </a:p>
                  </a:txBody>
                  <a:tcPr marL="76200" marR="76200" marT="47625" marB="47625">
                    <a:solidFill>
                      <a:srgbClr val="F2F4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PowerPoint deck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Detailed defense deck and original deck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Presentation structure and professional explanation</a:t>
                      </a:r>
                    </a:p>
                  </a:txBody>
                  <a:tcPr marL="76200" marR="76200" marT="47625" marB="47625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Speaker notes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Notes PDF, discussion guide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15-minute delivery plan and Q&amp;A readiness</a:t>
                      </a:r>
                    </a:p>
                  </a:txBody>
                  <a:tcPr marL="76200" marR="76200" marT="47625" marB="47625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Project 7 artifact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Integrated script, architecture, scenario JSON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System behavior and synthesis evidence</a:t>
                      </a:r>
                    </a:p>
                  </a:txBody>
                  <a:tcPr marL="76200" marR="76200" marT="47625" marB="47625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GitHub repository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Public repo with main and development branches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Version history and repository requirement</a:t>
                      </a:r>
                    </a:p>
                  </a:txBody>
                  <a:tcPr marL="76200" marR="76200" marT="47625" marB="47625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Requirements file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requirements.txt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</a:rPr>
                        <a:t>Python dependencies needed to rerun work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38655-B8D7-47E1-AAAF-C91182A9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No special AI knowledge is needed to perform a basic audit: confirm files exist, read the README, inspect outputs, and compare to the rubric.</a:t>
            </a:r>
          </a:p>
        </p:txBody>
      </p:sp>
    </p:spTree>
    <p:extLst>
      <p:ext uri="{BB962C8B-B14F-4D97-AF65-F5344CB8AC3E}">
        <p14:creationId xmlns:p14="http://schemas.microsoft.com/office/powerpoint/2010/main" val="9685540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2785B-4ABF-4A6E-B00A-51C6B4C2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MENTOR INTERACTION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C29AE-871B-4846-ABA6-D06C4F6B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Discussion prompts to prepare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A96AD-48B7-499F-88FF-3CC34535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B611E-AEC3-4AB1-BCAF-D5D756C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6BA32-9207-4199-A435-AC1CF065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D0232-E9F6-4997-AB05-114C0D19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EABD1-14F8-4F5D-B9DC-B4D229B5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this industry?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EEFC8-DABD-4A5C-9F7C-FC9A46A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Healthcare operations has meaningful risk, but the project avoids claiming autonomous clinical decision-making.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E8D72-B593-4452-9312-F38A19D3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240E-BAF9-4762-94E9-428B7D3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0A8F5-626E-44B2-A6F9-6278C722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Why these components?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AA0CB-338D-4FF3-B712-AD2028CD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Each prior project contributes a specific signal or method used in the integrated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2CD41-EAF2-48E9-96FE-CD7CBB8E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0984D-EF90-46F9-91F3-6BECB184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4ADC-839A-476E-9143-14779B48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would you improve?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45A81-766A-4E4F-BF13-79711DDA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Use real domain data, calibrate thresholds, add fairness testing, and validate with clinical operations experts.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A733E-6F40-45FC-9E58-0787D284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0C96EC-2793-4799-A5D1-1778C53B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01EB6-9EF4-4C4A-B7A5-8A372A92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is the main ethical risk?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43995-D51C-4AF9-ACD5-9B3E1C69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Automation bias and overreliance, mitigated through human approval and visible decision traces.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1B322-F76C-48EF-A078-185AAB99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Answer pattern: define the issue, point to project evidence, explain tradeoff, name next step.</a:t>
            </a:r>
          </a:p>
        </p:txBody>
      </p:sp>
    </p:spTree>
    <p:extLst>
      <p:ext uri="{BB962C8B-B14F-4D97-AF65-F5344CB8AC3E}">
        <p14:creationId xmlns:p14="http://schemas.microsoft.com/office/powerpoint/2010/main" val="11381662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1A5562-5F54-4472-87A5-3654522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LAYMAN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688FF-B433-430C-9A74-D13AAF2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Auditor guide: what to check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71A80-7B49-41A6-83A3-D9B8935A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135A9-0F08-44D8-BD9A-86F14F57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89B9F-4739-421D-B4CB-443762F8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1256E-1388-483D-A2B4-88CA6FD0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CC11E-19EF-4083-990A-629DE53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Open the Project 8 zip and confirm the deck, notes, README, requirements, and repository evidence are present.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1734A-0C30-4658-A959-D717E675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668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833A6-3BAC-47BC-B064-8E58EFF7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90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38F29-AD99-47A8-A7DF-36386D3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Open the Project 7 artifacts because Project 8 is a defense of Project 7, not a separate technical build.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6D6A7-B080-42B6-A25B-298F1C0F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668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67F25-31C9-44BF-B1AF-AC21B544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907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0DD74-5324-4E69-A938-5975E00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Read the scenario JSON to see the four sample decisions and risk scores.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3AD6-4FB9-4DF6-B3D9-331F0DD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6183D-9BBF-4986-93A2-CF3E3B4D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E3381-5202-4558-A24F-6A7A0EEF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Compare the deck sections to Udacity's defense rubric: context, system, integration, evaluation, ethics, reflection.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22DE9-28D3-428F-8241-72E94A27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737CE-94FF-4573-87A2-080A061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DECC7-78B6-403D-8668-BBF8D795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958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Check the public GitHub link for main and development branches.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D8C5D-DA80-4CE2-B58D-A11D65A6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3048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263C7-02E6-4776-8EC5-FA59B0A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74DDD6-BBFF-49A5-A7B2-2A5BDE04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9585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Ask whether the presenter can explain limitations without overclaiming.</a:t>
            </a:r>
          </a:p>
        </p:txBody>
      </p:sp>
    </p:spTree>
    <p:extLst>
      <p:ext uri="{BB962C8B-B14F-4D97-AF65-F5344CB8AC3E}">
        <p14:creationId xmlns:p14="http://schemas.microsoft.com/office/powerpoint/2010/main" val="446413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5CDA6-4FA3-4605-A30D-3740BE7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LAYMAN AUDIT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BBF9E-8A2C-4971-82DD-9756CD6F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Exact file map for a reviewer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852E9-78D3-40F6-8570-23C0E5C4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14A56-1AED-42B9-9F4D-4BB57F7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616251-8BDF-4921-B20E-F7B327F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E35E3-B706-4B8E-83CC-47FDB914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B624B-B274-401E-8BBE-BDCF1BB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5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Defense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70263-CFBE-4AC6-8BB6-6E655B1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764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Detailed presentation with embedded speaker notes for the 15-minute defense.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3F7CD-626A-4EB2-82D8-3F35FEE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5E2C2-D407-4084-B0BF-43624A6F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691A8-D8D0-4D31-AACB-26983B27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5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Discussion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51B375-67A2-4177-9FE1-71242861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Question prompts, suggested answers, timing plan, and mentor-defense talking 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5A90E-FDD4-4ACE-8729-F7F492A4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28191-8ED5-4414-9EC8-F21A2F9D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67823-8368-422B-AAA0-32E41B22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Auditor guide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97091-A6CD-4CDA-BB3E-C26C96F7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Plain-English explanation of Udacity, GitHub, project files, code execution, and verification.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32548-185D-429E-A42E-EEE5F45E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95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EEDE3-99EA-4678-974D-7508D499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1D6F7-CA99-48CD-A3AE-F69DB3A8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Submission zip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16706-C916-433D-9AD2-64365A26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22222"/>
                </a:solidFill>
                <a:latin typeface="Helvetica Neue"/>
                <a:ea typeface="Helvetica Neue"/>
                <a:cs typeface="Helvetica Neue"/>
              </a:rPr>
              <a:t>The Project 8 package that groups the final defense materials for Udacity upload.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A24DE-7B7C-47F2-A7C0-A19234C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Use this file map when someone asks, 'What am I looking at and why does it matter?'</a:t>
            </a:r>
          </a:p>
        </p:txBody>
      </p:sp>
    </p:spTree>
    <p:extLst>
      <p:ext uri="{BB962C8B-B14F-4D97-AF65-F5344CB8AC3E}">
        <p14:creationId xmlns:p14="http://schemas.microsoft.com/office/powerpoint/2010/main" val="5862581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68DCA-81A1-4B5A-9A42-E74B8A0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DEFENSE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2C1DB-8DC8-4E86-972C-76E97DA0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Closing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FC6B4-2D99-4F7B-B076-6860809D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2CCF1-5695-46F4-AF6B-026BE5AD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Sukh Sandhu | Professional Industry Defense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DB531-E6A2-402C-8419-B192C05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This project is a responsible AI system design, not a claim of production medical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1BF72-295F-4EBF-B3A2-B72BA8A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8953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It integrates multiple AI domains into one coherent healthcare operations workflow.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It uses transparent evidence signals and simple auditable routing logic.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It keeps patient-facing authority with humans.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It documents reproducibility through files, reports, requirements, outputs, and GitHub repositories.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- Its next step is domain validation, fairness testing, monitoring, and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2B0D5-B7A8-41E3-A160-1C069EB5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8382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4AB88-E461-43DA-9B37-DD11AD7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B5CAD"/>
                </a:solidFill>
                <a:latin typeface="Helvetica Neue"/>
                <a:ea typeface="Helvetica Neue"/>
                <a:cs typeface="Helvetica Neue"/>
              </a:rPr>
              <a:t>Final message: the strongest part of the project is not raw automation. It is controlled integration plus professional judgment.</a:t>
            </a:r>
          </a:p>
        </p:txBody>
      </p:sp>
    </p:spTree>
    <p:extLst>
      <p:ext uri="{BB962C8B-B14F-4D97-AF65-F5344CB8AC3E}">
        <p14:creationId xmlns:p14="http://schemas.microsoft.com/office/powerpoint/2010/main" val="1150931912"/>
      </p:ext>
    </p:extLst>
  </p:cSld>
</p:sld>
</file>

<file path=ppt/theme/theme1.xml><?xml version="1.0" encoding="utf-8"?>
<a:theme xmlns:a="http://schemas.openxmlformats.org/drawingml/2006/main" name="SukhSandhu">
  <a:themeElements>
    <a:clrScheme name="SukhSandhu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ukhSandhu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2026-06-26T00:32:53.8510000Z</dcterms:created>
  <dcterms:modified xsi:type="dcterms:W3CDTF">2026-06-26T00:32:53.8510000Z</dcterms:modified>
</coreProperties>
</file>